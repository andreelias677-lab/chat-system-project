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 Bold" charset="1" panose="020F0702030404030204"/>
      <p:regular r:id="rId19"/>
    </p:embeddedFont>
    <p:embeddedFont>
      <p:font typeface="Calibri (MS)" charset="1" panose="020F0502020204030204"/>
      <p:regular r:id="rId20"/>
    </p:embeddedFont>
    <p:embeddedFont>
      <p:font typeface="Calibri (MS) Italics" charset="1" panose="020F05020202040A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jpeg" Type="http://schemas.openxmlformats.org/officeDocument/2006/relationships/image"/><Relationship Id="rId4" Target="../media/image2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.jpeg" Type="http://schemas.openxmlformats.org/officeDocument/2006/relationships/image"/><Relationship Id="rId4" Target="../media/image6.png" Type="http://schemas.openxmlformats.org/officeDocument/2006/relationships/image"/><Relationship Id="rId5" Target="../media/image8.png" Type="http://schemas.openxmlformats.org/officeDocument/2006/relationships/image"/><Relationship Id="rId6" Target="../media/image11.png" Type="http://schemas.openxmlformats.org/officeDocument/2006/relationships/image"/><Relationship Id="rId7" Target="../media/image10.png" Type="http://schemas.openxmlformats.org/officeDocument/2006/relationships/image"/><Relationship Id="rId8" Target="../media/image7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.jpe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.jpe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04520" y="-2468880"/>
            <a:ext cx="7543800" cy="7543800"/>
            <a:chOff x="0" y="0"/>
            <a:chExt cx="10058400" cy="1005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0" cy="10058400"/>
            </a:xfrm>
            <a:custGeom>
              <a:avLst/>
              <a:gdLst/>
              <a:ahLst/>
              <a:cxnLst/>
              <a:rect r="r" b="b" t="t" l="l"/>
              <a:pathLst>
                <a:path h="10058400" w="10058400">
                  <a:moveTo>
                    <a:pt x="0" y="5029200"/>
                  </a:moveTo>
                  <a:cubicBezTo>
                    <a:pt x="0" y="2251710"/>
                    <a:pt x="2251710" y="0"/>
                    <a:pt x="5029200" y="0"/>
                  </a:cubicBezTo>
                  <a:cubicBezTo>
                    <a:pt x="7806690" y="0"/>
                    <a:pt x="10058400" y="2251710"/>
                    <a:pt x="10058400" y="5029200"/>
                  </a:cubicBezTo>
                  <a:cubicBezTo>
                    <a:pt x="10058400" y="7806690"/>
                    <a:pt x="7806690" y="10058400"/>
                    <a:pt x="5029200" y="10058400"/>
                  </a:cubicBezTo>
                  <a:cubicBezTo>
                    <a:pt x="2251710" y="10058400"/>
                    <a:pt x="0" y="7806690"/>
                    <a:pt x="0" y="5029200"/>
                  </a:cubicBezTo>
                  <a:close/>
                </a:path>
              </a:pathLst>
            </a:custGeom>
            <a:solidFill>
              <a:srgbClr val="1C7293">
                <a:alpha val="470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743200" y="6172200"/>
            <a:ext cx="6858000" cy="6858000"/>
            <a:chOff x="0" y="0"/>
            <a:chExt cx="9144000" cy="914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F5A623">
                <a:alpha val="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39115" y="342900"/>
            <a:ext cx="1371600" cy="1371600"/>
            <a:chOff x="0" y="0"/>
            <a:chExt cx="1828800" cy="18288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9115" y="342900"/>
            <a:ext cx="1371600" cy="1371600"/>
            <a:chOff x="0" y="0"/>
            <a:chExt cx="182880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09447" y="713232"/>
            <a:ext cx="630936" cy="630936"/>
            <a:chOff x="0" y="0"/>
            <a:chExt cx="841248" cy="841248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7280" y="2014325"/>
            <a:ext cx="15636240" cy="1371600"/>
            <a:chOff x="0" y="0"/>
            <a:chExt cx="20848320" cy="182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8483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2129" r="0" b="-17212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23825"/>
              <a:ext cx="20848320" cy="195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b="true" sz="6000" spc="1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CLIENT–SERVER CHAT APPLICATION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7280" y="3317345"/>
            <a:ext cx="15636240" cy="822960"/>
            <a:chOff x="0" y="0"/>
            <a:chExt cx="2084832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848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084832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700">
                  <a:solidFill>
                    <a:srgbClr val="9FD8DB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تطبيق دردشة شبكي يعتمد على نموذج </a:t>
              </a:r>
              <a:r>
                <a:rPr lang="en-US" sz="2700">
                  <a:solidFill>
                    <a:srgbClr val="9FD8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Client-Server</a:t>
              </a:r>
              <a:r>
                <a:rPr lang="ar-EG" sz="2700">
                  <a:solidFill>
                    <a:srgbClr val="9FD8DB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 | مادة برمجة التطبيقات الشبكية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4440" y="6240780"/>
            <a:ext cx="15636240" cy="27432"/>
            <a:chOff x="0" y="0"/>
            <a:chExt cx="20848320" cy="365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848320" cy="36576"/>
            </a:xfrm>
            <a:custGeom>
              <a:avLst/>
              <a:gdLst/>
              <a:ahLst/>
              <a:cxnLst/>
              <a:rect r="r" b="b" t="t" l="l"/>
              <a:pathLst>
                <a:path h="36576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24915" y="6848475"/>
            <a:ext cx="4819650" cy="1253490"/>
            <a:chOff x="0" y="0"/>
            <a:chExt cx="6426200" cy="16713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26200" cy="1671320"/>
            </a:xfrm>
            <a:custGeom>
              <a:avLst/>
              <a:gdLst/>
              <a:ahLst/>
              <a:cxnLst/>
              <a:rect r="r" b="b" t="t" l="l"/>
              <a:pathLst>
                <a:path h="1671320" w="642620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6277610" y="0"/>
                  </a:lnTo>
                  <a:cubicBezTo>
                    <a:pt x="6359652" y="0"/>
                    <a:pt x="6426200" y="66548"/>
                    <a:pt x="6426200" y="148590"/>
                  </a:cubicBezTo>
                  <a:lnTo>
                    <a:pt x="6426200" y="1522730"/>
                  </a:lnTo>
                  <a:cubicBezTo>
                    <a:pt x="6426200" y="1604772"/>
                    <a:pt x="6359652" y="1671320"/>
                    <a:pt x="6277610" y="1671320"/>
                  </a:cubicBezTo>
                  <a:lnTo>
                    <a:pt x="148590" y="1671320"/>
                  </a:lnTo>
                  <a:cubicBezTo>
                    <a:pt x="66548" y="1671320"/>
                    <a:pt x="0" y="1604772"/>
                    <a:pt x="0" y="1522730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234440" y="6858000"/>
            <a:ext cx="4800600" cy="1234440"/>
            <a:chOff x="0" y="0"/>
            <a:chExt cx="6400800" cy="16459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008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775" r="0" b="-2577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640080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rtl="true">
                <a:lnSpc>
                  <a:spcPts val="3240"/>
                </a:lnSpc>
              </a:pPr>
              <a:r>
                <a:rPr lang="ar-EG" b="true" sz="27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اندريه مطيع الياس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505575" y="6848475"/>
            <a:ext cx="4819650" cy="1253490"/>
            <a:chOff x="0" y="0"/>
            <a:chExt cx="6426200" cy="16713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26200" cy="1671320"/>
            </a:xfrm>
            <a:custGeom>
              <a:avLst/>
              <a:gdLst/>
              <a:ahLst/>
              <a:cxnLst/>
              <a:rect r="r" b="b" t="t" l="l"/>
              <a:pathLst>
                <a:path h="1671320" w="642620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6277610" y="0"/>
                  </a:lnTo>
                  <a:cubicBezTo>
                    <a:pt x="6359652" y="0"/>
                    <a:pt x="6426200" y="66548"/>
                    <a:pt x="6426200" y="148590"/>
                  </a:cubicBezTo>
                  <a:lnTo>
                    <a:pt x="6426200" y="1522730"/>
                  </a:lnTo>
                  <a:cubicBezTo>
                    <a:pt x="6426200" y="1604772"/>
                    <a:pt x="6359652" y="1671320"/>
                    <a:pt x="6277610" y="1671320"/>
                  </a:cubicBezTo>
                  <a:lnTo>
                    <a:pt x="148590" y="1671320"/>
                  </a:lnTo>
                  <a:cubicBezTo>
                    <a:pt x="66548" y="1671320"/>
                    <a:pt x="0" y="1604772"/>
                    <a:pt x="0" y="1522730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515100" y="6858000"/>
            <a:ext cx="4800600" cy="1234440"/>
            <a:chOff x="0" y="0"/>
            <a:chExt cx="6400800" cy="16459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008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775" r="0" b="-2577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640080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rtl="true">
                <a:lnSpc>
                  <a:spcPts val="3240"/>
                </a:lnSpc>
              </a:pPr>
              <a:r>
                <a:rPr lang="ar-EG" b="true" sz="27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جورج اسكندر حنا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786235" y="6848475"/>
            <a:ext cx="4819650" cy="1253490"/>
            <a:chOff x="0" y="0"/>
            <a:chExt cx="6426200" cy="16713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26200" cy="1671320"/>
            </a:xfrm>
            <a:custGeom>
              <a:avLst/>
              <a:gdLst/>
              <a:ahLst/>
              <a:cxnLst/>
              <a:rect r="r" b="b" t="t" l="l"/>
              <a:pathLst>
                <a:path h="1671320" w="642620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6277610" y="0"/>
                  </a:lnTo>
                  <a:cubicBezTo>
                    <a:pt x="6359652" y="0"/>
                    <a:pt x="6426200" y="66548"/>
                    <a:pt x="6426200" y="148590"/>
                  </a:cubicBezTo>
                  <a:lnTo>
                    <a:pt x="6426200" y="1522730"/>
                  </a:lnTo>
                  <a:cubicBezTo>
                    <a:pt x="6426200" y="1604772"/>
                    <a:pt x="6359652" y="1671320"/>
                    <a:pt x="6277610" y="1671320"/>
                  </a:cubicBezTo>
                  <a:lnTo>
                    <a:pt x="148590" y="1671320"/>
                  </a:lnTo>
                  <a:cubicBezTo>
                    <a:pt x="66548" y="1671320"/>
                    <a:pt x="0" y="1604772"/>
                    <a:pt x="0" y="1522730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1795760" y="6858000"/>
            <a:ext cx="4800600" cy="1234440"/>
            <a:chOff x="0" y="0"/>
            <a:chExt cx="6400800" cy="16459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4008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775" r="0" b="-2577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640080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rtl="true">
                <a:lnSpc>
                  <a:spcPts val="3240"/>
                </a:lnSpc>
              </a:pPr>
              <a:r>
                <a:rPr lang="ar-EG" b="true" sz="27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ابراهيم يوسف حموده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6322040" cy="1097280"/>
            <a:chOff x="0" y="0"/>
            <a:chExt cx="217627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839" r="0" b="-23983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176272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5759"/>
                </a:lnSpc>
              </a:pPr>
              <a:r>
                <a:rPr lang="ar-EG" sz="480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الهدف من المشروع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2194560"/>
            <a:ext cx="16322040" cy="3566160"/>
            <a:chOff x="0" y="0"/>
            <a:chExt cx="21762720" cy="4754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217627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543263" y="0"/>
                  </a:lnTo>
                  <a:cubicBezTo>
                    <a:pt x="21664422" y="0"/>
                    <a:pt x="21762720" y="98298"/>
                    <a:pt x="21762720" y="219456"/>
                  </a:cubicBezTo>
                  <a:lnTo>
                    <a:pt x="21762720" y="4535424"/>
                  </a:lnTo>
                  <a:cubicBezTo>
                    <a:pt x="21762720" y="4656582"/>
                    <a:pt x="21664422" y="4754880"/>
                    <a:pt x="21543263" y="4754880"/>
                  </a:cubicBezTo>
                  <a:lnTo>
                    <a:pt x="219456" y="4754880"/>
                  </a:lnTo>
                  <a:cubicBezTo>
                    <a:pt x="98298" y="4754880"/>
                    <a:pt x="0" y="4656582"/>
                    <a:pt x="0" y="4535424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08760" y="2537460"/>
            <a:ext cx="15224760" cy="2880360"/>
            <a:chOff x="0" y="0"/>
            <a:chExt cx="20299680" cy="38404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99680" cy="3840480"/>
            </a:xfrm>
            <a:custGeom>
              <a:avLst/>
              <a:gdLst/>
              <a:ahLst/>
              <a:cxnLst/>
              <a:rect r="r" b="b" t="t" l="l"/>
              <a:pathLst>
                <a:path h="3840480" w="20299680">
                  <a:moveTo>
                    <a:pt x="0" y="0"/>
                  </a:moveTo>
                  <a:lnTo>
                    <a:pt x="20299680" y="0"/>
                  </a:lnTo>
                  <a:lnTo>
                    <a:pt x="20299680" y="3840480"/>
                  </a:lnTo>
                  <a:lnTo>
                    <a:pt x="0" y="3840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20299680" cy="3964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825"/>
                </a:lnSpc>
              </a:pPr>
              <a:r>
                <a:rPr lang="ar-EG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إنشاء تطبيق دردشة شبكي يعتمد على نموذج </a:t>
              </a:r>
              <a:r>
                <a:rPr lang="en-US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Client-Server</a:t>
              </a:r>
              <a:r>
                <a:rPr lang="ar-EG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، يسمح لعدّة مستخدمين بالتواصل الفوري عبر خادم مركزي واحد يدير الاتصالات، يوجّه الرسائل العامة والخاصة بينهم، ويحتفظ بسجلّ تاريخي لكل المحادثات — بهدف تطبيق مبادئ البرمجة الشبكية (</a:t>
              </a:r>
              <a:r>
                <a:rPr lang="en-US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Socket Programming</a:t>
              </a:r>
              <a:r>
                <a:rPr lang="ar-EG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)، والتزامن (</a:t>
              </a:r>
              <a:r>
                <a:rPr lang="en-US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Threading</a:t>
              </a:r>
              <a:r>
                <a:rPr lang="ar-EG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)، والعمل الجماعي عبر </a:t>
              </a:r>
              <a:r>
                <a:rPr lang="en-US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</a:t>
              </a:r>
              <a:r>
                <a:rPr lang="ar-EG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 و</a:t>
              </a:r>
              <a:r>
                <a:rPr lang="en-US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GitHub</a:t>
              </a:r>
              <a:r>
                <a:rPr lang="ar-EG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 بشكل عملي وحقيقي.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0595" y="6231255"/>
            <a:ext cx="5162550" cy="2762250"/>
            <a:chOff x="0" y="0"/>
            <a:chExt cx="6883400" cy="3683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834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688340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699250" y="0"/>
                  </a:lnTo>
                  <a:cubicBezTo>
                    <a:pt x="6800977" y="0"/>
                    <a:pt x="6883400" y="82423"/>
                    <a:pt x="6883400" y="184150"/>
                  </a:cubicBezTo>
                  <a:lnTo>
                    <a:pt x="6883400" y="3498850"/>
                  </a:lnTo>
                  <a:cubicBezTo>
                    <a:pt x="6883400" y="3600577"/>
                    <a:pt x="6800977" y="3683000"/>
                    <a:pt x="6699250" y="3683000"/>
                  </a:cubicBezTo>
                  <a:lnTo>
                    <a:pt x="184150" y="3683000"/>
                  </a:lnTo>
                  <a:cubicBezTo>
                    <a:pt x="82423" y="3683000"/>
                    <a:pt x="0" y="3600577"/>
                    <a:pt x="0" y="3498850"/>
                  </a:cubicBezTo>
                  <a:close/>
                </a:path>
              </a:pathLst>
            </a:custGeom>
            <a:solidFill>
              <a:srgbClr val="F4F8FA"/>
            </a:solidFill>
            <a:ln w="19050" cap="sq">
              <a:solidFill>
                <a:srgbClr val="9FD8D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03020" y="6515100"/>
            <a:ext cx="4457700" cy="685800"/>
            <a:chOff x="0" y="0"/>
            <a:chExt cx="594360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59436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060"/>
                </a:lnSpc>
              </a:pPr>
              <a:r>
                <a:rPr lang="ar-EG" sz="2550" b="true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تواصل فوري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03020" y="7200900"/>
            <a:ext cx="4457700" cy="1508760"/>
            <a:chOff x="0" y="0"/>
            <a:chExt cx="5943600" cy="20116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9436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69" r="0" b="-756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5943600" cy="2106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808"/>
                </a:lnSpc>
              </a:pPr>
              <a:r>
                <a:rPr lang="ar-EG" sz="19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رسائل تنتقل لحظياً بين كل المستخدمين المتصلين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505575" y="6231255"/>
            <a:ext cx="5162550" cy="2762250"/>
            <a:chOff x="0" y="0"/>
            <a:chExt cx="6883400" cy="3683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834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688340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699250" y="0"/>
                  </a:lnTo>
                  <a:cubicBezTo>
                    <a:pt x="6800977" y="0"/>
                    <a:pt x="6883400" y="82423"/>
                    <a:pt x="6883400" y="184150"/>
                  </a:cubicBezTo>
                  <a:lnTo>
                    <a:pt x="6883400" y="3498850"/>
                  </a:lnTo>
                  <a:cubicBezTo>
                    <a:pt x="6883400" y="3600577"/>
                    <a:pt x="6800977" y="3683000"/>
                    <a:pt x="6699250" y="3683000"/>
                  </a:cubicBezTo>
                  <a:lnTo>
                    <a:pt x="184150" y="3683000"/>
                  </a:lnTo>
                  <a:cubicBezTo>
                    <a:pt x="82423" y="3683000"/>
                    <a:pt x="0" y="3600577"/>
                    <a:pt x="0" y="3498850"/>
                  </a:cubicBezTo>
                  <a:close/>
                </a:path>
              </a:pathLst>
            </a:custGeom>
            <a:solidFill>
              <a:srgbClr val="F4F8FA"/>
            </a:solidFill>
            <a:ln w="19050" cap="sq">
              <a:solidFill>
                <a:srgbClr val="9FD8DB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858000" y="6515100"/>
            <a:ext cx="4457700" cy="685800"/>
            <a:chOff x="0" y="0"/>
            <a:chExt cx="59436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59436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060"/>
                </a:lnSpc>
              </a:pPr>
              <a:r>
                <a:rPr lang="ar-EG" sz="2550" b="true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خصوصية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858000" y="7200900"/>
            <a:ext cx="4457700" cy="1508760"/>
            <a:chOff x="0" y="0"/>
            <a:chExt cx="5943600" cy="20116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9436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69" r="0" b="-756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0"/>
              <a:ext cx="5943600" cy="2106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808"/>
                </a:lnSpc>
              </a:pPr>
              <a:r>
                <a:rPr lang="ar-EG" sz="19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دعم رسائل خاصة بين شخصين دون إطّلاع الآخرين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060555" y="6231255"/>
            <a:ext cx="5162550" cy="2762250"/>
            <a:chOff x="0" y="0"/>
            <a:chExt cx="6883400" cy="3683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834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688340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699250" y="0"/>
                  </a:lnTo>
                  <a:cubicBezTo>
                    <a:pt x="6800977" y="0"/>
                    <a:pt x="6883400" y="82423"/>
                    <a:pt x="6883400" y="184150"/>
                  </a:cubicBezTo>
                  <a:lnTo>
                    <a:pt x="6883400" y="3498850"/>
                  </a:lnTo>
                  <a:cubicBezTo>
                    <a:pt x="6883400" y="3600577"/>
                    <a:pt x="6800977" y="3683000"/>
                    <a:pt x="6699250" y="3683000"/>
                  </a:cubicBezTo>
                  <a:lnTo>
                    <a:pt x="184150" y="3683000"/>
                  </a:lnTo>
                  <a:cubicBezTo>
                    <a:pt x="82423" y="3683000"/>
                    <a:pt x="0" y="3600577"/>
                    <a:pt x="0" y="3498850"/>
                  </a:cubicBezTo>
                  <a:close/>
                </a:path>
              </a:pathLst>
            </a:custGeom>
            <a:solidFill>
              <a:srgbClr val="F4F8FA"/>
            </a:solidFill>
            <a:ln w="19050" cap="sq">
              <a:solidFill>
                <a:srgbClr val="9FD8DB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412980" y="6515100"/>
            <a:ext cx="4457700" cy="685800"/>
            <a:chOff x="0" y="0"/>
            <a:chExt cx="594360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59436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060"/>
                </a:lnSpc>
              </a:pPr>
              <a:r>
                <a:rPr lang="ar-EG" sz="2550" b="true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استمرارية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412980" y="7200900"/>
            <a:ext cx="4457700" cy="1508760"/>
            <a:chOff x="0" y="0"/>
            <a:chExt cx="5943600" cy="20116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436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69" r="0" b="-756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0"/>
              <a:ext cx="5943600" cy="2106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808"/>
                </a:lnSpc>
              </a:pPr>
              <a:r>
                <a:rPr lang="ar-EG" sz="19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حفظ تاريخ المحادثات بشكل دائم بملف سجلّ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6322040" cy="1097280"/>
            <a:chOff x="0" y="0"/>
            <a:chExt cx="217627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839" r="0" b="-23983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21762720" cy="1558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Actors</a:t>
              </a:r>
              <a:r>
                <a:rPr lang="ar-EG" sz="450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 — المستخدمون وصلاحياتهم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60120" y="2125980"/>
          <a:ext cx="16306800" cy="6686550"/>
        </p:xfrm>
        <a:graphic>
          <a:graphicData uri="http://schemas.openxmlformats.org/drawingml/2006/table">
            <a:tbl>
              <a:tblPr/>
              <a:tblGrid>
                <a:gridCol w="11498968"/>
                <a:gridCol w="4807832"/>
              </a:tblGrid>
              <a:tr h="2228850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700"/>
                        </a:lnSpc>
                        <a:defRPr/>
                      </a:pPr>
                      <a:r>
                        <a:rPr lang="ar-EG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  <a:rtl val="true"/>
                        </a:rPr>
                        <a:t>الصلاحيات والإجراءات الممكنة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700"/>
                        </a:lnSpc>
                        <a:defRPr/>
                      </a:pPr>
                      <a:r>
                        <a:rPr lang="ar-EG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  <a:rtl val="true"/>
                        </a:rPr>
                        <a:t>الفاعل</a:t>
                      </a: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 (Actor)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228850">
                <a:tc>
                  <a:txBody>
                    <a:bodyPr anchor="t" rtlCol="false"/>
                    <a:lstStyle/>
                    <a:p>
                      <a:pPr algn="r" rtl="true">
                        <a:lnSpc>
                          <a:spcPts val="2340"/>
                        </a:lnSpc>
                        <a:defRPr/>
                      </a:pPr>
                      <a:r>
                        <a:rPr lang="ar-EG" sz="1950">
                          <a:solidFill>
                            <a:srgbClr val="1B2B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  <a:rtl val="true"/>
                        </a:rPr>
                        <a:t>• تسجيل اسم مستخدم فريد عند الاتصال</a:t>
                      </a:r>
                      <a:endParaRPr lang="en-US" sz="1100"/>
                    </a:p>
                    <a:p>
                      <a:pPr algn="r" rtl="true">
                        <a:lnSpc>
                          <a:spcPts val="2340"/>
                        </a:lnSpc>
                      </a:pPr>
                      <a:r>
                        <a:rPr lang="ar-EG" sz="1950">
                          <a:solidFill>
                            <a:srgbClr val="1B2B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  <a:rtl val="true"/>
                        </a:rPr>
                        <a:t>• إرسال واستقبال رسائل عامة (</a:t>
                      </a:r>
                      <a:r>
                        <a:rPr lang="en-US" sz="1950">
                          <a:solidFill>
                            <a:srgbClr val="1B2B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Broadcast</a:t>
                      </a:r>
                      <a:r>
                        <a:rPr lang="ar-EG" sz="1950">
                          <a:solidFill>
                            <a:srgbClr val="1B2B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  <a:rtl val="true"/>
                        </a:rPr>
                        <a:t>)</a:t>
                      </a:r>
                    </a:p>
                    <a:p>
                      <a:pPr algn="r" rtl="true">
                        <a:lnSpc>
                          <a:spcPts val="2340"/>
                        </a:lnSpc>
                      </a:pPr>
                      <a:r>
                        <a:rPr lang="ar-EG" sz="1950">
                          <a:solidFill>
                            <a:srgbClr val="1B2B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  <a:rtl val="true"/>
                        </a:rPr>
                        <a:t>• إرسال واستقبال رسائل خاصة (/</a:t>
                      </a:r>
                      <a:r>
                        <a:rPr lang="en-US" sz="1950">
                          <a:solidFill>
                            <a:srgbClr val="1B2B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msg</a:t>
                      </a:r>
                      <a:r>
                        <a:rPr lang="ar-EG" sz="1950">
                          <a:solidFill>
                            <a:srgbClr val="1B2B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  <a:rtl val="true"/>
                        </a:rPr>
                        <a:t>)</a:t>
                      </a:r>
                    </a:p>
                    <a:p>
                      <a:pPr algn="r" rtl="true">
                        <a:lnSpc>
                          <a:spcPts val="2340"/>
                        </a:lnSpc>
                      </a:pPr>
                      <a:r>
                        <a:rPr lang="ar-EG" sz="1950">
                          <a:solidFill>
                            <a:srgbClr val="1B2B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  <a:rtl val="true"/>
                        </a:rPr>
                        <a:t>• عرض قائمة المتصلين حالياً (/</a:t>
                      </a:r>
                      <a:r>
                        <a:rPr lang="en-US" sz="1950">
                          <a:solidFill>
                            <a:srgbClr val="1B2B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users</a:t>
                      </a:r>
                      <a:r>
                        <a:rPr lang="ar-EG" sz="1950">
                          <a:solidFill>
                            <a:srgbClr val="1B2B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  <a:rtl val="true"/>
                        </a:rPr>
                        <a:t>)</a:t>
                      </a:r>
                    </a:p>
                    <a:p>
                      <a:pPr algn="r" rtl="true">
                        <a:lnSpc>
                          <a:spcPts val="2340"/>
                        </a:lnSpc>
                      </a:pPr>
                      <a:r>
                        <a:rPr lang="ar-EG" sz="1950">
                          <a:solidFill>
                            <a:srgbClr val="1B2B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  <a:rtl val="true"/>
                        </a:rPr>
                        <a:t>• عرض سجل آخر الرسائل (/</a:t>
                      </a:r>
                      <a:r>
                        <a:rPr lang="en-US" sz="1950">
                          <a:solidFill>
                            <a:srgbClr val="1B2B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history</a:t>
                      </a:r>
                      <a:r>
                        <a:rPr lang="ar-EG" sz="1950">
                          <a:solidFill>
                            <a:srgbClr val="1B2B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  <a:rtl val="true"/>
                        </a:rPr>
                        <a:t>)</a:t>
                      </a:r>
                    </a:p>
                    <a:p>
                      <a:pPr algn="r" rtl="true">
                        <a:lnSpc>
                          <a:spcPts val="2340"/>
                        </a:lnSpc>
                      </a:pPr>
                      <a:r>
                        <a:rPr lang="ar-EG" sz="1950">
                          <a:solidFill>
                            <a:srgbClr val="1B2B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  <a:rtl val="true"/>
                        </a:rPr>
                        <a:t>• تسجيل خروج نظيف (</a:t>
                      </a:r>
                      <a:r>
                        <a:rPr lang="en-US" sz="1950">
                          <a:solidFill>
                            <a:srgbClr val="1B2B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quit</a:t>
                      </a:r>
                      <a:r>
                        <a:rPr lang="ar-EG" sz="1950">
                          <a:solidFill>
                            <a:srgbClr val="1B2B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  <a:rtl val="true"/>
                        </a:rPr>
                        <a:t>)</a:t>
                      </a:r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1C729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Client</a:t>
                      </a:r>
                      <a:endParaRPr lang="en-US" sz="1100"/>
                    </a:p>
                    <a:p>
                      <a:pPr algn="r">
                        <a:lnSpc>
                          <a:spcPts val="2340"/>
                        </a:lnSpc>
                      </a:pPr>
                      <a:r>
                        <a:rPr lang="en-US" sz="1950" b="true">
                          <a:solidFill>
                            <a:srgbClr val="1C729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(</a:t>
                      </a:r>
                      <a:r>
                        <a:rPr lang="ar-EG" sz="1950" b="true">
                          <a:solidFill>
                            <a:srgbClr val="1C729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  <a:rtl val="true"/>
                        </a:rPr>
                        <a:t>مستخدم عادي</a:t>
                      </a:r>
                      <a:r>
                        <a:rPr lang="en-US" sz="1950" b="true">
                          <a:solidFill>
                            <a:srgbClr val="1C729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)</a:t>
                      </a:r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2228850">
                <a:tc>
                  <a:txBody>
                    <a:bodyPr anchor="t" rtlCol="false"/>
                    <a:lstStyle/>
                    <a:p>
                      <a:pPr algn="r" rtl="true">
                        <a:lnSpc>
                          <a:spcPts val="2340"/>
                        </a:lnSpc>
                        <a:defRPr/>
                      </a:pPr>
                      <a:r>
                        <a:rPr lang="ar-EG" sz="1950">
                          <a:solidFill>
                            <a:srgbClr val="1B2B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  <a:rtl val="true"/>
                        </a:rPr>
                        <a:t>• قبول اتصالات عدة مستخدمين بالتزامن</a:t>
                      </a:r>
                      <a:endParaRPr lang="en-US" sz="1100"/>
                    </a:p>
                    <a:p>
                      <a:pPr algn="r" rtl="true">
                        <a:lnSpc>
                          <a:spcPts val="2340"/>
                        </a:lnSpc>
                      </a:pPr>
                      <a:r>
                        <a:rPr lang="ar-EG" sz="1950">
                          <a:solidFill>
                            <a:srgbClr val="1B2B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  <a:rtl val="true"/>
                        </a:rPr>
                        <a:t>• تسجيل وإدارة قائمة المتصلين</a:t>
                      </a:r>
                    </a:p>
                    <a:p>
                      <a:pPr algn="r" rtl="true">
                        <a:lnSpc>
                          <a:spcPts val="2340"/>
                        </a:lnSpc>
                      </a:pPr>
                      <a:r>
                        <a:rPr lang="ar-EG" sz="1950">
                          <a:solidFill>
                            <a:srgbClr val="1B2B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  <a:rtl val="true"/>
                        </a:rPr>
                        <a:t>• توجيه الرسائل العامة لكل المستخدمين</a:t>
                      </a:r>
                    </a:p>
                    <a:p>
                      <a:pPr algn="r" rtl="true">
                        <a:lnSpc>
                          <a:spcPts val="2340"/>
                        </a:lnSpc>
                      </a:pPr>
                      <a:r>
                        <a:rPr lang="ar-EG" sz="1950">
                          <a:solidFill>
                            <a:srgbClr val="1B2B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  <a:rtl val="true"/>
                        </a:rPr>
                        <a:t>• توجيه الرسائل الخاصة للمستلم فقط</a:t>
                      </a:r>
                    </a:p>
                    <a:p>
                      <a:pPr algn="r" rtl="true">
                        <a:lnSpc>
                          <a:spcPts val="2340"/>
                        </a:lnSpc>
                      </a:pPr>
                      <a:r>
                        <a:rPr lang="ar-EG" sz="1950">
                          <a:solidFill>
                            <a:srgbClr val="1B2B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  <a:rtl val="true"/>
                        </a:rPr>
                        <a:t>• رفض أي اسم مستخدم مكرَّر</a:t>
                      </a:r>
                    </a:p>
                    <a:p>
                      <a:pPr algn="r" rtl="true">
                        <a:lnSpc>
                          <a:spcPts val="2340"/>
                        </a:lnSpc>
                      </a:pPr>
                      <a:r>
                        <a:rPr lang="ar-EG" sz="1950">
                          <a:solidFill>
                            <a:srgbClr val="1B2B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  <a:rtl val="true"/>
                        </a:rPr>
                        <a:t>• تسجيل كل الرسائل بملف سجلّ دائم</a:t>
                      </a:r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1C729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Server</a:t>
                      </a:r>
                      <a:endParaRPr lang="en-US" sz="1100"/>
                    </a:p>
                    <a:p>
                      <a:pPr algn="r">
                        <a:lnSpc>
                          <a:spcPts val="2340"/>
                        </a:lnSpc>
                      </a:pPr>
                      <a:r>
                        <a:rPr lang="en-US" sz="1950" b="true">
                          <a:solidFill>
                            <a:srgbClr val="1C729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(</a:t>
                      </a:r>
                      <a:r>
                        <a:rPr lang="ar-EG" sz="1950" b="true">
                          <a:solidFill>
                            <a:srgbClr val="1C729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  <a:rtl val="true"/>
                        </a:rPr>
                        <a:t>الخادم المركزي</a:t>
                      </a:r>
                      <a:r>
                        <a:rPr lang="en-US" sz="1950" b="true">
                          <a:solidFill>
                            <a:srgbClr val="1C729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)</a:t>
                      </a:r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960120" y="9121140"/>
            <a:ext cx="16322040" cy="685800"/>
            <a:chOff x="0" y="0"/>
            <a:chExt cx="2176272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62720" cy="914400"/>
            </a:xfrm>
            <a:custGeom>
              <a:avLst/>
              <a:gdLst/>
              <a:ahLst/>
              <a:cxnLst/>
              <a:rect r="r" b="b" t="t" l="l"/>
              <a:pathLst>
                <a:path h="9144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743" r="0" b="-41374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176272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1980"/>
                </a:lnSpc>
              </a:pPr>
              <a:r>
                <a:rPr lang="ar-EG" sz="1650" i="true">
                  <a:solidFill>
                    <a:srgbClr val="5C70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  <a:rtl val="true"/>
                </a:rPr>
                <a:t>ملاحظة: لا يوجد حالياً مستوى "</a:t>
              </a:r>
              <a:r>
                <a:rPr lang="en-US" sz="1650" i="true">
                  <a:solidFill>
                    <a:srgbClr val="5C70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Administrator</a:t>
              </a:r>
              <a:r>
                <a:rPr lang="ar-EG" sz="1650" i="true">
                  <a:solidFill>
                    <a:srgbClr val="5C70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  <a:rtl val="true"/>
                </a:rPr>
                <a:t>" منفصل — صلاحيات الإدارة (إدارة الاتصالات، التوجيه) جزء من منطق الخادم نفسه.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6322040" cy="1097280"/>
            <a:chOff x="0" y="0"/>
            <a:chExt cx="217627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839" r="0" b="-23983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21762720" cy="1558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 Cases</a:t>
              </a:r>
              <a:r>
                <a:rPr lang="ar-EG" sz="450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 — الوظائف الأساسية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0595" y="2185035"/>
            <a:ext cx="5185410" cy="2899410"/>
            <a:chOff x="0" y="0"/>
            <a:chExt cx="6913880" cy="3865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13880" cy="3865880"/>
            </a:xfrm>
            <a:custGeom>
              <a:avLst/>
              <a:gdLst/>
              <a:ahLst/>
              <a:cxnLst/>
              <a:rect r="r" b="b" t="t" l="l"/>
              <a:pathLst>
                <a:path h="3865880" w="691388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729730" y="0"/>
                  </a:lnTo>
                  <a:cubicBezTo>
                    <a:pt x="6831457" y="0"/>
                    <a:pt x="6913880" y="82423"/>
                    <a:pt x="6913880" y="184150"/>
                  </a:cubicBezTo>
                  <a:lnTo>
                    <a:pt x="6913880" y="3681730"/>
                  </a:lnTo>
                  <a:cubicBezTo>
                    <a:pt x="6913880" y="3783457"/>
                    <a:pt x="6831457" y="3865880"/>
                    <a:pt x="6729730" y="3865880"/>
                  </a:cubicBezTo>
                  <a:lnTo>
                    <a:pt x="184150" y="3865880"/>
                  </a:lnTo>
                  <a:cubicBezTo>
                    <a:pt x="82423" y="3865880"/>
                    <a:pt x="0" y="3783457"/>
                    <a:pt x="0" y="3681730"/>
                  </a:cubicBezTo>
                  <a:close/>
                </a:path>
              </a:pathLst>
            </a:custGeom>
            <a:solidFill>
              <a:srgbClr val="F4F8FA"/>
            </a:solidFill>
            <a:ln w="19050" cap="sq">
              <a:solidFill>
                <a:srgbClr val="9FD8D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5019675" y="2486787"/>
            <a:ext cx="773430" cy="773430"/>
            <a:chOff x="0" y="0"/>
            <a:chExt cx="1031240" cy="10312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186934" y="2660904"/>
            <a:ext cx="438912" cy="438912"/>
            <a:chOff x="0" y="0"/>
            <a:chExt cx="585216" cy="585216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39190" y="2496312"/>
            <a:ext cx="3794760" cy="754380"/>
            <a:chOff x="0" y="0"/>
            <a:chExt cx="5059680" cy="1005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596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059680">
                  <a:moveTo>
                    <a:pt x="0" y="0"/>
                  </a:moveTo>
                  <a:lnTo>
                    <a:pt x="5059680" y="0"/>
                  </a:lnTo>
                  <a:lnTo>
                    <a:pt x="50596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15" r="0" b="-4801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505968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700"/>
                </a:lnSpc>
              </a:pPr>
              <a:r>
                <a:rPr lang="ar-EG" sz="225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تسجيل الدخول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03020" y="3360420"/>
            <a:ext cx="4480560" cy="1508760"/>
            <a:chOff x="0" y="0"/>
            <a:chExt cx="5974080" cy="2011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9740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4" r="0" b="-786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5974080" cy="2087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84"/>
                </a:lnSpc>
              </a:pPr>
              <a:r>
                <a:rPr lang="ar-EG" sz="172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إدخال اسم مستخدم فريد والاتصال بالخادم عبر خدمة الاسم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28435" y="2185035"/>
            <a:ext cx="5185410" cy="2899410"/>
            <a:chOff x="0" y="0"/>
            <a:chExt cx="6913880" cy="3865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13880" cy="3865880"/>
            </a:xfrm>
            <a:custGeom>
              <a:avLst/>
              <a:gdLst/>
              <a:ahLst/>
              <a:cxnLst/>
              <a:rect r="r" b="b" t="t" l="l"/>
              <a:pathLst>
                <a:path h="3865880" w="691388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729730" y="0"/>
                  </a:lnTo>
                  <a:cubicBezTo>
                    <a:pt x="6831457" y="0"/>
                    <a:pt x="6913880" y="82423"/>
                    <a:pt x="6913880" y="184150"/>
                  </a:cubicBezTo>
                  <a:lnTo>
                    <a:pt x="6913880" y="3681730"/>
                  </a:lnTo>
                  <a:cubicBezTo>
                    <a:pt x="6913880" y="3783457"/>
                    <a:pt x="6831457" y="3865880"/>
                    <a:pt x="6729730" y="3865880"/>
                  </a:cubicBezTo>
                  <a:lnTo>
                    <a:pt x="184150" y="3865880"/>
                  </a:lnTo>
                  <a:cubicBezTo>
                    <a:pt x="82423" y="3865880"/>
                    <a:pt x="0" y="3783457"/>
                    <a:pt x="0" y="3681730"/>
                  </a:cubicBezTo>
                  <a:close/>
                </a:path>
              </a:pathLst>
            </a:custGeom>
            <a:solidFill>
              <a:srgbClr val="F4F8FA"/>
            </a:solidFill>
            <a:ln w="19050" cap="sq">
              <a:solidFill>
                <a:srgbClr val="9FD8DB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0597515" y="2486787"/>
            <a:ext cx="773430" cy="773430"/>
            <a:chOff x="0" y="0"/>
            <a:chExt cx="1031240" cy="10312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0764774" y="2660904"/>
            <a:ext cx="438912" cy="438912"/>
            <a:chOff x="0" y="0"/>
            <a:chExt cx="585216" cy="585216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717030" y="2496312"/>
            <a:ext cx="3794760" cy="754380"/>
            <a:chOff x="0" y="0"/>
            <a:chExt cx="5059680" cy="1005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596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059680">
                  <a:moveTo>
                    <a:pt x="0" y="0"/>
                  </a:moveTo>
                  <a:lnTo>
                    <a:pt x="5059680" y="0"/>
                  </a:lnTo>
                  <a:lnTo>
                    <a:pt x="50596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15" r="0" b="-4801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505968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700"/>
                </a:lnSpc>
              </a:pPr>
              <a:r>
                <a:rPr lang="ar-EG" sz="225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إرسال رسالة عامة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880860" y="3360420"/>
            <a:ext cx="4480560" cy="1508760"/>
            <a:chOff x="0" y="0"/>
            <a:chExt cx="5974080" cy="2011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9740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4" r="0" b="-786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5974080" cy="2087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484"/>
                </a:lnSpc>
              </a:pPr>
              <a:r>
                <a:rPr lang="ar-EG" sz="172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بث الرسالة فورياً لكل المستخدمين المتصلين (</a:t>
              </a:r>
              <a:r>
                <a:rPr lang="en-US" sz="172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Broadcast</a:t>
              </a:r>
              <a:r>
                <a:rPr lang="ar-EG" sz="172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106275" y="2185035"/>
            <a:ext cx="5185410" cy="2899410"/>
            <a:chOff x="0" y="0"/>
            <a:chExt cx="6913880" cy="38658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913880" cy="3865880"/>
            </a:xfrm>
            <a:custGeom>
              <a:avLst/>
              <a:gdLst/>
              <a:ahLst/>
              <a:cxnLst/>
              <a:rect r="r" b="b" t="t" l="l"/>
              <a:pathLst>
                <a:path h="3865880" w="691388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729730" y="0"/>
                  </a:lnTo>
                  <a:cubicBezTo>
                    <a:pt x="6831457" y="0"/>
                    <a:pt x="6913880" y="82423"/>
                    <a:pt x="6913880" y="184150"/>
                  </a:cubicBezTo>
                  <a:lnTo>
                    <a:pt x="6913880" y="3681730"/>
                  </a:lnTo>
                  <a:cubicBezTo>
                    <a:pt x="6913880" y="3783457"/>
                    <a:pt x="6831457" y="3865880"/>
                    <a:pt x="6729730" y="3865880"/>
                  </a:cubicBezTo>
                  <a:lnTo>
                    <a:pt x="184150" y="3865880"/>
                  </a:lnTo>
                  <a:cubicBezTo>
                    <a:pt x="82423" y="3865880"/>
                    <a:pt x="0" y="3783457"/>
                    <a:pt x="0" y="3681730"/>
                  </a:cubicBezTo>
                  <a:close/>
                </a:path>
              </a:pathLst>
            </a:custGeom>
            <a:solidFill>
              <a:srgbClr val="F4F8FA"/>
            </a:solidFill>
            <a:ln w="19050" cap="sq">
              <a:solidFill>
                <a:srgbClr val="9FD8DB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6175355" y="2486787"/>
            <a:ext cx="773430" cy="773430"/>
            <a:chOff x="0" y="0"/>
            <a:chExt cx="1031240" cy="10312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6342614" y="2660904"/>
            <a:ext cx="438912" cy="438912"/>
            <a:chOff x="0" y="0"/>
            <a:chExt cx="585216" cy="585216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294870" y="2496312"/>
            <a:ext cx="3794760" cy="754380"/>
            <a:chOff x="0" y="0"/>
            <a:chExt cx="505968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0596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059680">
                  <a:moveTo>
                    <a:pt x="0" y="0"/>
                  </a:moveTo>
                  <a:lnTo>
                    <a:pt x="5059680" y="0"/>
                  </a:lnTo>
                  <a:lnTo>
                    <a:pt x="50596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15" r="0" b="-4801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505968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700"/>
                </a:lnSpc>
              </a:pPr>
              <a:r>
                <a:rPr lang="ar-EG" sz="225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رسالة خاصة (/</a:t>
              </a:r>
              <a:r>
                <a:rPr lang="en-US" sz="225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msg</a:t>
              </a:r>
              <a:r>
                <a:rPr lang="ar-EG" sz="225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458700" y="3360420"/>
            <a:ext cx="4480560" cy="1508760"/>
            <a:chOff x="0" y="0"/>
            <a:chExt cx="5974080" cy="20116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9740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4" r="0" b="-786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76200"/>
              <a:ext cx="5974080" cy="2087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84"/>
                </a:lnSpc>
              </a:pPr>
              <a:r>
                <a:rPr lang="ar-EG" sz="172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إرسال نص لمستخدم واحد محدد دون أن يراه الباقون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50595" y="5476875"/>
            <a:ext cx="5185410" cy="2899410"/>
            <a:chOff x="0" y="0"/>
            <a:chExt cx="6913880" cy="38658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913880" cy="3865880"/>
            </a:xfrm>
            <a:custGeom>
              <a:avLst/>
              <a:gdLst/>
              <a:ahLst/>
              <a:cxnLst/>
              <a:rect r="r" b="b" t="t" l="l"/>
              <a:pathLst>
                <a:path h="3865880" w="691388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729730" y="0"/>
                  </a:lnTo>
                  <a:cubicBezTo>
                    <a:pt x="6831457" y="0"/>
                    <a:pt x="6913880" y="82423"/>
                    <a:pt x="6913880" y="184150"/>
                  </a:cubicBezTo>
                  <a:lnTo>
                    <a:pt x="6913880" y="3681730"/>
                  </a:lnTo>
                  <a:cubicBezTo>
                    <a:pt x="6913880" y="3783457"/>
                    <a:pt x="6831457" y="3865880"/>
                    <a:pt x="6729730" y="3865880"/>
                  </a:cubicBezTo>
                  <a:lnTo>
                    <a:pt x="184150" y="3865880"/>
                  </a:lnTo>
                  <a:cubicBezTo>
                    <a:pt x="82423" y="3865880"/>
                    <a:pt x="0" y="3783457"/>
                    <a:pt x="0" y="3681730"/>
                  </a:cubicBezTo>
                  <a:close/>
                </a:path>
              </a:pathLst>
            </a:custGeom>
            <a:solidFill>
              <a:srgbClr val="F4F8FA"/>
            </a:solidFill>
            <a:ln w="19050" cap="sq">
              <a:solidFill>
                <a:srgbClr val="9FD8DB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5019675" y="5778627"/>
            <a:ext cx="773430" cy="773430"/>
            <a:chOff x="0" y="0"/>
            <a:chExt cx="1031240" cy="10312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5186934" y="5952744"/>
            <a:ext cx="438912" cy="438912"/>
            <a:chOff x="0" y="0"/>
            <a:chExt cx="585216" cy="585216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39190" y="5788152"/>
            <a:ext cx="3794760" cy="754380"/>
            <a:chOff x="0" y="0"/>
            <a:chExt cx="5059680" cy="10058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0596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059680">
                  <a:moveTo>
                    <a:pt x="0" y="0"/>
                  </a:moveTo>
                  <a:lnTo>
                    <a:pt x="5059680" y="0"/>
                  </a:lnTo>
                  <a:lnTo>
                    <a:pt x="50596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15" r="0" b="-4801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505968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700"/>
                </a:lnSpc>
              </a:pPr>
              <a:r>
                <a:rPr lang="ar-EG" sz="225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عرض المتصلين (/</a:t>
              </a:r>
              <a:r>
                <a:rPr lang="en-US" sz="225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users</a:t>
              </a:r>
              <a:r>
                <a:rPr lang="ar-EG" sz="225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)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03020" y="6652260"/>
            <a:ext cx="4480560" cy="1508760"/>
            <a:chOff x="0" y="0"/>
            <a:chExt cx="5974080" cy="20116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9740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4" r="0" b="-786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76200"/>
              <a:ext cx="5974080" cy="2087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84"/>
                </a:lnSpc>
              </a:pPr>
              <a:r>
                <a:rPr lang="ar-EG" sz="172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استعلام فوري من الخادم بقائمة كل المستخدمين الحاليين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528435" y="5476875"/>
            <a:ext cx="5185410" cy="2899410"/>
            <a:chOff x="0" y="0"/>
            <a:chExt cx="6913880" cy="38658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913880" cy="3865880"/>
            </a:xfrm>
            <a:custGeom>
              <a:avLst/>
              <a:gdLst/>
              <a:ahLst/>
              <a:cxnLst/>
              <a:rect r="r" b="b" t="t" l="l"/>
              <a:pathLst>
                <a:path h="3865880" w="691388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729730" y="0"/>
                  </a:lnTo>
                  <a:cubicBezTo>
                    <a:pt x="6831457" y="0"/>
                    <a:pt x="6913880" y="82423"/>
                    <a:pt x="6913880" y="184150"/>
                  </a:cubicBezTo>
                  <a:lnTo>
                    <a:pt x="6913880" y="3681730"/>
                  </a:lnTo>
                  <a:cubicBezTo>
                    <a:pt x="6913880" y="3783457"/>
                    <a:pt x="6831457" y="3865880"/>
                    <a:pt x="6729730" y="3865880"/>
                  </a:cubicBezTo>
                  <a:lnTo>
                    <a:pt x="184150" y="3865880"/>
                  </a:lnTo>
                  <a:cubicBezTo>
                    <a:pt x="82423" y="3865880"/>
                    <a:pt x="0" y="3783457"/>
                    <a:pt x="0" y="3681730"/>
                  </a:cubicBezTo>
                  <a:close/>
                </a:path>
              </a:pathLst>
            </a:custGeom>
            <a:solidFill>
              <a:srgbClr val="F4F8FA"/>
            </a:solidFill>
            <a:ln w="19050" cap="sq">
              <a:solidFill>
                <a:srgbClr val="9FD8DB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0597515" y="5778627"/>
            <a:ext cx="773430" cy="773430"/>
            <a:chOff x="0" y="0"/>
            <a:chExt cx="1031240" cy="10312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0764774" y="5952744"/>
            <a:ext cx="438912" cy="438912"/>
            <a:chOff x="0" y="0"/>
            <a:chExt cx="585216" cy="585216"/>
          </a:xfrm>
        </p:grpSpPr>
        <p:sp>
          <p:nvSpPr>
            <p:cNvPr name="Freeform 58" id="58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717030" y="5778627"/>
            <a:ext cx="3794760" cy="754380"/>
            <a:chOff x="0" y="0"/>
            <a:chExt cx="5059680" cy="10058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0596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059680">
                  <a:moveTo>
                    <a:pt x="0" y="0"/>
                  </a:moveTo>
                  <a:lnTo>
                    <a:pt x="5059680" y="0"/>
                  </a:lnTo>
                  <a:lnTo>
                    <a:pt x="50596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15" r="0" b="-4801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505968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700"/>
                </a:lnSpc>
              </a:pPr>
              <a:r>
                <a:rPr lang="ar-EG" sz="225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عرض السجل (/</a:t>
              </a:r>
              <a:r>
                <a:rPr lang="en-US" sz="225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history</a:t>
              </a:r>
              <a:r>
                <a:rPr lang="ar-EG" sz="225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)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880860" y="6652260"/>
            <a:ext cx="4480560" cy="1508760"/>
            <a:chOff x="0" y="0"/>
            <a:chExt cx="5974080" cy="20116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9740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4" r="0" b="-786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76200"/>
              <a:ext cx="5974080" cy="2087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84"/>
                </a:lnSpc>
              </a:pPr>
              <a:r>
                <a:rPr lang="ar-EG" sz="172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استرجاع آخر </a:t>
              </a:r>
              <a:r>
                <a:rPr lang="en-US" sz="172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50</a:t>
              </a:r>
              <a:r>
                <a:rPr lang="ar-EG" sz="172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 رسالة محفوظة من ملف السجلّ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106275" y="5476875"/>
            <a:ext cx="5185410" cy="2899410"/>
            <a:chOff x="0" y="0"/>
            <a:chExt cx="6913880" cy="38658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913880" cy="3865880"/>
            </a:xfrm>
            <a:custGeom>
              <a:avLst/>
              <a:gdLst/>
              <a:ahLst/>
              <a:cxnLst/>
              <a:rect r="r" b="b" t="t" l="l"/>
              <a:pathLst>
                <a:path h="3865880" w="691388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729730" y="0"/>
                  </a:lnTo>
                  <a:cubicBezTo>
                    <a:pt x="6831457" y="0"/>
                    <a:pt x="6913880" y="82423"/>
                    <a:pt x="6913880" y="184150"/>
                  </a:cubicBezTo>
                  <a:lnTo>
                    <a:pt x="6913880" y="3681730"/>
                  </a:lnTo>
                  <a:cubicBezTo>
                    <a:pt x="6913880" y="3783457"/>
                    <a:pt x="6831457" y="3865880"/>
                    <a:pt x="6729730" y="3865880"/>
                  </a:cubicBezTo>
                  <a:lnTo>
                    <a:pt x="184150" y="3865880"/>
                  </a:lnTo>
                  <a:cubicBezTo>
                    <a:pt x="82423" y="3865880"/>
                    <a:pt x="0" y="3783457"/>
                    <a:pt x="0" y="3681730"/>
                  </a:cubicBezTo>
                  <a:close/>
                </a:path>
              </a:pathLst>
            </a:custGeom>
            <a:solidFill>
              <a:srgbClr val="F4F8FA"/>
            </a:solidFill>
            <a:ln w="19050" cap="sq">
              <a:solidFill>
                <a:srgbClr val="9FD8DB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6175355" y="5778627"/>
            <a:ext cx="773430" cy="773430"/>
            <a:chOff x="0" y="0"/>
            <a:chExt cx="1031240" cy="10312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6342614" y="5952744"/>
            <a:ext cx="438912" cy="438912"/>
            <a:chOff x="0" y="0"/>
            <a:chExt cx="585216" cy="585216"/>
          </a:xfrm>
        </p:grpSpPr>
        <p:sp>
          <p:nvSpPr>
            <p:cNvPr name="Freeform 70" id="70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294870" y="5788152"/>
            <a:ext cx="3794760" cy="754380"/>
            <a:chOff x="0" y="0"/>
            <a:chExt cx="5059680" cy="10058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0596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059680">
                  <a:moveTo>
                    <a:pt x="0" y="0"/>
                  </a:moveTo>
                  <a:lnTo>
                    <a:pt x="5059680" y="0"/>
                  </a:lnTo>
                  <a:lnTo>
                    <a:pt x="50596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15" r="0" b="-4801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505968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700"/>
                </a:lnSpc>
              </a:pPr>
              <a:r>
                <a:rPr lang="ar-EG" sz="225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تبادل البيانات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458700" y="6652260"/>
            <a:ext cx="4480560" cy="1508760"/>
            <a:chOff x="0" y="0"/>
            <a:chExt cx="5974080" cy="20116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9740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4" r="0" b="-7864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76200"/>
              <a:ext cx="5974080" cy="2087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484"/>
                </a:lnSpc>
              </a:pPr>
              <a:r>
                <a:rPr lang="ar-EG" sz="172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كل الاتصال عبر </a:t>
              </a:r>
              <a:r>
                <a:rPr lang="en-US" sz="172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TCP Socket</a:t>
              </a:r>
              <a:r>
                <a:rPr lang="ar-EG" sz="172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 بين العميل والخادم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6322040" cy="1097280"/>
            <a:chOff x="0" y="0"/>
            <a:chExt cx="217627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839" r="0" b="-23983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21762720" cy="1558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5400"/>
                </a:lnSpc>
              </a:pPr>
              <a:r>
                <a:rPr lang="ar-EG" sz="450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التقنيات وبيئات التطوير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2125980"/>
            <a:ext cx="5166360" cy="3360420"/>
            <a:chOff x="0" y="0"/>
            <a:chExt cx="6888480" cy="4480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888480" cy="4480560"/>
            </a:xfrm>
            <a:custGeom>
              <a:avLst/>
              <a:gdLst/>
              <a:ahLst/>
              <a:cxnLst/>
              <a:rect r="r" b="b" t="t" l="l"/>
              <a:pathLst>
                <a:path h="4480560" w="6888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705600" y="0"/>
                  </a:lnTo>
                  <a:cubicBezTo>
                    <a:pt x="6806565" y="0"/>
                    <a:pt x="6888480" y="81915"/>
                    <a:pt x="6888480" y="182880"/>
                  </a:cubicBezTo>
                  <a:lnTo>
                    <a:pt x="6888480" y="4297680"/>
                  </a:lnTo>
                  <a:cubicBezTo>
                    <a:pt x="6888480" y="4398645"/>
                    <a:pt x="6806565" y="4480560"/>
                    <a:pt x="6705600" y="4480560"/>
                  </a:cubicBezTo>
                  <a:lnTo>
                    <a:pt x="182880" y="4480560"/>
                  </a:lnTo>
                  <a:cubicBezTo>
                    <a:pt x="81915" y="4480560"/>
                    <a:pt x="0" y="4398645"/>
                    <a:pt x="0" y="4297680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61872" y="2372868"/>
            <a:ext cx="4562856" cy="617220"/>
            <a:chOff x="0" y="0"/>
            <a:chExt cx="6083808" cy="822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83808" cy="822960"/>
            </a:xfrm>
            <a:custGeom>
              <a:avLst/>
              <a:gdLst/>
              <a:ahLst/>
              <a:cxnLst/>
              <a:rect r="r" b="b" t="t" l="l"/>
              <a:pathLst>
                <a:path h="822960" w="6083808">
                  <a:moveTo>
                    <a:pt x="0" y="0"/>
                  </a:moveTo>
                  <a:lnTo>
                    <a:pt x="6083808" y="0"/>
                  </a:lnTo>
                  <a:lnTo>
                    <a:pt x="6083808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044" r="0" b="-9404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6083808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700"/>
                </a:lnSpc>
              </a:pPr>
              <a:r>
                <a:rPr lang="ar-EG" sz="225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لغة البرمجة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61872" y="3086100"/>
            <a:ext cx="4562856" cy="2194560"/>
            <a:chOff x="0" y="0"/>
            <a:chExt cx="6083808" cy="2926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83808" cy="2926080"/>
            </a:xfrm>
            <a:custGeom>
              <a:avLst/>
              <a:gdLst/>
              <a:ahLst/>
              <a:cxnLst/>
              <a:rect r="r" b="b" t="t" l="l"/>
              <a:pathLst>
                <a:path h="2926080" w="6083808">
                  <a:moveTo>
                    <a:pt x="0" y="0"/>
                  </a:moveTo>
                  <a:lnTo>
                    <a:pt x="6083808" y="0"/>
                  </a:lnTo>
                  <a:lnTo>
                    <a:pt x="6083808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09" t="0" r="-11709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6083808" cy="3021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339328" indent="-169664" lvl="1">
                <a:lnSpc>
                  <a:spcPts val="2812"/>
                </a:lnSpc>
                <a:buFont typeface="Arial"/>
                <a:buChar char="•"/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537960" y="2125980"/>
            <a:ext cx="5166360" cy="3360420"/>
            <a:chOff x="0" y="0"/>
            <a:chExt cx="6888480" cy="4480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88480" cy="4480560"/>
            </a:xfrm>
            <a:custGeom>
              <a:avLst/>
              <a:gdLst/>
              <a:ahLst/>
              <a:cxnLst/>
              <a:rect r="r" b="b" t="t" l="l"/>
              <a:pathLst>
                <a:path h="4480560" w="6888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705600" y="0"/>
                  </a:lnTo>
                  <a:cubicBezTo>
                    <a:pt x="6806565" y="0"/>
                    <a:pt x="6888480" y="81915"/>
                    <a:pt x="6888480" y="182880"/>
                  </a:cubicBezTo>
                  <a:lnTo>
                    <a:pt x="6888480" y="4297680"/>
                  </a:lnTo>
                  <a:cubicBezTo>
                    <a:pt x="6888480" y="4398645"/>
                    <a:pt x="6806565" y="4480560"/>
                    <a:pt x="6705600" y="4480560"/>
                  </a:cubicBezTo>
                  <a:lnTo>
                    <a:pt x="182880" y="4480560"/>
                  </a:lnTo>
                  <a:cubicBezTo>
                    <a:pt x="81915" y="4480560"/>
                    <a:pt x="0" y="4398645"/>
                    <a:pt x="0" y="4297680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839712" y="2372868"/>
            <a:ext cx="4562856" cy="617220"/>
            <a:chOff x="0" y="0"/>
            <a:chExt cx="6083808" cy="822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83808" cy="822960"/>
            </a:xfrm>
            <a:custGeom>
              <a:avLst/>
              <a:gdLst/>
              <a:ahLst/>
              <a:cxnLst/>
              <a:rect r="r" b="b" t="t" l="l"/>
              <a:pathLst>
                <a:path h="822960" w="6083808">
                  <a:moveTo>
                    <a:pt x="0" y="0"/>
                  </a:moveTo>
                  <a:lnTo>
                    <a:pt x="6083808" y="0"/>
                  </a:lnTo>
                  <a:lnTo>
                    <a:pt x="6083808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044" r="0" b="-9404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6083808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700"/>
                </a:lnSpc>
              </a:pPr>
              <a:r>
                <a:rPr lang="ar-EG" sz="225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الشبكات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839712" y="3086100"/>
            <a:ext cx="4562856" cy="2194560"/>
            <a:chOff x="0" y="0"/>
            <a:chExt cx="6083808" cy="2926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083808" cy="2926080"/>
            </a:xfrm>
            <a:custGeom>
              <a:avLst/>
              <a:gdLst/>
              <a:ahLst/>
              <a:cxnLst/>
              <a:rect r="r" b="b" t="t" l="l"/>
              <a:pathLst>
                <a:path h="2926080" w="6083808">
                  <a:moveTo>
                    <a:pt x="0" y="0"/>
                  </a:moveTo>
                  <a:lnTo>
                    <a:pt x="6083808" y="0"/>
                  </a:lnTo>
                  <a:lnTo>
                    <a:pt x="6083808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09" t="0" r="-11709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6083808" cy="3021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339328" indent="-169664" lvl="1">
                <a:lnSpc>
                  <a:spcPts val="2812"/>
                </a:lnSpc>
                <a:buFont typeface="Arial"/>
                <a:buChar char="•"/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socket (TCP)</a:t>
              </a:r>
            </a:p>
            <a:p>
              <a:pPr algn="just" marL="339328" indent="-169664" lvl="1">
                <a:lnSpc>
                  <a:spcPts val="2812"/>
                </a:lnSpc>
                <a:buFont typeface="Arial"/>
                <a:buChar char="•"/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threading</a:t>
              </a:r>
            </a:p>
            <a:p>
              <a:pPr algn="just" marL="339328" indent="-169664" lvl="1">
                <a:lnSpc>
                  <a:spcPts val="2812"/>
                </a:lnSpc>
                <a:buFont typeface="Arial"/>
                <a:buChar char="•"/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 service (JSON) — </a:t>
              </a:r>
              <a:r>
                <a:rPr lang="ar-EG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بدل</a:t>
              </a: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IP/Port </a:t>
              </a:r>
              <a:r>
                <a:rPr lang="ar-EG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مباشر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115800" y="2125980"/>
            <a:ext cx="5166360" cy="3360420"/>
            <a:chOff x="0" y="0"/>
            <a:chExt cx="6888480" cy="44805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88480" cy="4480560"/>
            </a:xfrm>
            <a:custGeom>
              <a:avLst/>
              <a:gdLst/>
              <a:ahLst/>
              <a:cxnLst/>
              <a:rect r="r" b="b" t="t" l="l"/>
              <a:pathLst>
                <a:path h="4480560" w="6888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705600" y="0"/>
                  </a:lnTo>
                  <a:cubicBezTo>
                    <a:pt x="6806565" y="0"/>
                    <a:pt x="6888480" y="81915"/>
                    <a:pt x="6888480" y="182880"/>
                  </a:cubicBezTo>
                  <a:lnTo>
                    <a:pt x="6888480" y="4297680"/>
                  </a:lnTo>
                  <a:cubicBezTo>
                    <a:pt x="6888480" y="4398645"/>
                    <a:pt x="6806565" y="4480560"/>
                    <a:pt x="6705600" y="4480560"/>
                  </a:cubicBezTo>
                  <a:lnTo>
                    <a:pt x="182880" y="4480560"/>
                  </a:lnTo>
                  <a:cubicBezTo>
                    <a:pt x="81915" y="4480560"/>
                    <a:pt x="0" y="4398645"/>
                    <a:pt x="0" y="4297680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417552" y="2372868"/>
            <a:ext cx="4562856" cy="617220"/>
            <a:chOff x="0" y="0"/>
            <a:chExt cx="6083808" cy="8229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083808" cy="822960"/>
            </a:xfrm>
            <a:custGeom>
              <a:avLst/>
              <a:gdLst/>
              <a:ahLst/>
              <a:cxnLst/>
              <a:rect r="r" b="b" t="t" l="l"/>
              <a:pathLst>
                <a:path h="822960" w="6083808">
                  <a:moveTo>
                    <a:pt x="0" y="0"/>
                  </a:moveTo>
                  <a:lnTo>
                    <a:pt x="6083808" y="0"/>
                  </a:lnTo>
                  <a:lnTo>
                    <a:pt x="6083808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044" r="0" b="-9404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6083808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700"/>
                </a:lnSpc>
              </a:pPr>
              <a:r>
                <a:rPr lang="ar-EG" sz="225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الواجهات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417552" y="3086100"/>
            <a:ext cx="4562856" cy="2194560"/>
            <a:chOff x="0" y="0"/>
            <a:chExt cx="6083808" cy="2926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83808" cy="2926080"/>
            </a:xfrm>
            <a:custGeom>
              <a:avLst/>
              <a:gdLst/>
              <a:ahLst/>
              <a:cxnLst/>
              <a:rect r="r" b="b" t="t" l="l"/>
              <a:pathLst>
                <a:path h="2926080" w="6083808">
                  <a:moveTo>
                    <a:pt x="0" y="0"/>
                  </a:moveTo>
                  <a:lnTo>
                    <a:pt x="6083808" y="0"/>
                  </a:lnTo>
                  <a:lnTo>
                    <a:pt x="6083808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09" t="0" r="-11709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0"/>
              <a:ext cx="6083808" cy="3021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339328" indent="-169664" lvl="1">
                <a:lnSpc>
                  <a:spcPts val="2812"/>
                </a:lnSpc>
                <a:buFont typeface="Arial"/>
                <a:buChar char="•"/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Terminal Client</a:t>
              </a:r>
            </a:p>
            <a:p>
              <a:pPr algn="just" marL="339328" indent="-169664" lvl="1">
                <a:lnSpc>
                  <a:spcPts val="2812"/>
                </a:lnSpc>
                <a:buFont typeface="Arial"/>
                <a:buChar char="•"/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customtkinter (GUI Client)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60120" y="5897880"/>
            <a:ext cx="5166360" cy="3360420"/>
            <a:chOff x="0" y="0"/>
            <a:chExt cx="6888480" cy="44805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88480" cy="4480560"/>
            </a:xfrm>
            <a:custGeom>
              <a:avLst/>
              <a:gdLst/>
              <a:ahLst/>
              <a:cxnLst/>
              <a:rect r="r" b="b" t="t" l="l"/>
              <a:pathLst>
                <a:path h="4480560" w="6888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705600" y="0"/>
                  </a:lnTo>
                  <a:cubicBezTo>
                    <a:pt x="6806565" y="0"/>
                    <a:pt x="6888480" y="81915"/>
                    <a:pt x="6888480" y="182880"/>
                  </a:cubicBezTo>
                  <a:lnTo>
                    <a:pt x="6888480" y="4297680"/>
                  </a:lnTo>
                  <a:cubicBezTo>
                    <a:pt x="6888480" y="4398645"/>
                    <a:pt x="6806565" y="4480560"/>
                    <a:pt x="6705600" y="4480560"/>
                  </a:cubicBezTo>
                  <a:lnTo>
                    <a:pt x="182880" y="4480560"/>
                  </a:lnTo>
                  <a:cubicBezTo>
                    <a:pt x="81915" y="4480560"/>
                    <a:pt x="0" y="4398645"/>
                    <a:pt x="0" y="4297680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61872" y="6144768"/>
            <a:ext cx="4562856" cy="617220"/>
            <a:chOff x="0" y="0"/>
            <a:chExt cx="6083808" cy="8229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083808" cy="822960"/>
            </a:xfrm>
            <a:custGeom>
              <a:avLst/>
              <a:gdLst/>
              <a:ahLst/>
              <a:cxnLst/>
              <a:rect r="r" b="b" t="t" l="l"/>
              <a:pathLst>
                <a:path h="822960" w="6083808">
                  <a:moveTo>
                    <a:pt x="0" y="0"/>
                  </a:moveTo>
                  <a:lnTo>
                    <a:pt x="6083808" y="0"/>
                  </a:lnTo>
                  <a:lnTo>
                    <a:pt x="6083808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044" r="0" b="-9404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6083808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700"/>
                </a:lnSpc>
              </a:pPr>
              <a:r>
                <a:rPr lang="ar-EG" sz="225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التخزين والسجل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61872" y="6858000"/>
            <a:ext cx="4562856" cy="2194560"/>
            <a:chOff x="0" y="0"/>
            <a:chExt cx="6083808" cy="2926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83808" cy="2926080"/>
            </a:xfrm>
            <a:custGeom>
              <a:avLst/>
              <a:gdLst/>
              <a:ahLst/>
              <a:cxnLst/>
              <a:rect r="r" b="b" t="t" l="l"/>
              <a:pathLst>
                <a:path h="2926080" w="6083808">
                  <a:moveTo>
                    <a:pt x="0" y="0"/>
                  </a:moveTo>
                  <a:lnTo>
                    <a:pt x="6083808" y="0"/>
                  </a:lnTo>
                  <a:lnTo>
                    <a:pt x="6083808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09" t="0" r="-11709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0"/>
              <a:ext cx="6083808" cy="3021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 marL="339328" indent="-169664" lvl="1">
                <a:lnSpc>
                  <a:spcPts val="2812"/>
                </a:lnSpc>
                <a:buFont typeface="Arial"/>
                <a:buChar char="•"/>
              </a:pPr>
              <a:r>
                <a:rPr lang="ar-EG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ملف نصي (</a:t>
              </a: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chat_history.log</a:t>
              </a:r>
              <a:r>
                <a:rPr lang="ar-EG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)</a:t>
              </a:r>
            </a:p>
            <a:p>
              <a:pPr algn="r" rtl="true" marL="339328" indent="-169664" lvl="1">
                <a:lnSpc>
                  <a:spcPts val="2812"/>
                </a:lnSpc>
                <a:buFont typeface="Arial"/>
                <a:buChar char="•"/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JSON</a:t>
              </a:r>
              <a:r>
                <a:rPr lang="ar-EG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 لإعدادات الخدمة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537960" y="5897880"/>
            <a:ext cx="5166360" cy="3360420"/>
            <a:chOff x="0" y="0"/>
            <a:chExt cx="6888480" cy="44805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888480" cy="4480560"/>
            </a:xfrm>
            <a:custGeom>
              <a:avLst/>
              <a:gdLst/>
              <a:ahLst/>
              <a:cxnLst/>
              <a:rect r="r" b="b" t="t" l="l"/>
              <a:pathLst>
                <a:path h="4480560" w="6888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705600" y="0"/>
                  </a:lnTo>
                  <a:cubicBezTo>
                    <a:pt x="6806565" y="0"/>
                    <a:pt x="6888480" y="81915"/>
                    <a:pt x="6888480" y="182880"/>
                  </a:cubicBezTo>
                  <a:lnTo>
                    <a:pt x="6888480" y="4297680"/>
                  </a:lnTo>
                  <a:cubicBezTo>
                    <a:pt x="6888480" y="4398645"/>
                    <a:pt x="6806565" y="4480560"/>
                    <a:pt x="6705600" y="4480560"/>
                  </a:cubicBezTo>
                  <a:lnTo>
                    <a:pt x="182880" y="4480560"/>
                  </a:lnTo>
                  <a:cubicBezTo>
                    <a:pt x="81915" y="4480560"/>
                    <a:pt x="0" y="4398645"/>
                    <a:pt x="0" y="4297680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6839712" y="6144768"/>
            <a:ext cx="4562856" cy="617220"/>
            <a:chOff x="0" y="0"/>
            <a:chExt cx="6083808" cy="8229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083808" cy="822960"/>
            </a:xfrm>
            <a:custGeom>
              <a:avLst/>
              <a:gdLst/>
              <a:ahLst/>
              <a:cxnLst/>
              <a:rect r="r" b="b" t="t" l="l"/>
              <a:pathLst>
                <a:path h="822960" w="6083808">
                  <a:moveTo>
                    <a:pt x="0" y="0"/>
                  </a:moveTo>
                  <a:lnTo>
                    <a:pt x="6083808" y="0"/>
                  </a:lnTo>
                  <a:lnTo>
                    <a:pt x="6083808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044" r="0" b="-9404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6083808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700"/>
                </a:lnSpc>
              </a:pPr>
              <a:r>
                <a:rPr lang="ar-EG" sz="225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إدارة المشروع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839712" y="6858000"/>
            <a:ext cx="4562856" cy="2194560"/>
            <a:chOff x="0" y="0"/>
            <a:chExt cx="6083808" cy="29260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083808" cy="2926080"/>
            </a:xfrm>
            <a:custGeom>
              <a:avLst/>
              <a:gdLst/>
              <a:ahLst/>
              <a:cxnLst/>
              <a:rect r="r" b="b" t="t" l="l"/>
              <a:pathLst>
                <a:path h="2926080" w="6083808">
                  <a:moveTo>
                    <a:pt x="0" y="0"/>
                  </a:moveTo>
                  <a:lnTo>
                    <a:pt x="6083808" y="0"/>
                  </a:lnTo>
                  <a:lnTo>
                    <a:pt x="6083808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09" t="0" r="-11709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0"/>
              <a:ext cx="6083808" cy="3021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339328" indent="-169664" lvl="1">
                <a:lnSpc>
                  <a:spcPts val="2812"/>
                </a:lnSpc>
                <a:buFont typeface="Arial"/>
                <a:buChar char="•"/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 &amp; GitHub</a:t>
              </a:r>
            </a:p>
            <a:p>
              <a:pPr algn="just" marL="339328" indent="-169664" lvl="1">
                <a:lnSpc>
                  <a:spcPts val="2812"/>
                </a:lnSpc>
                <a:buFont typeface="Arial"/>
                <a:buChar char="•"/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Visual Studio Code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115800" y="5897880"/>
            <a:ext cx="5166360" cy="3360420"/>
            <a:chOff x="0" y="0"/>
            <a:chExt cx="6888480" cy="44805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888480" cy="4480560"/>
            </a:xfrm>
            <a:custGeom>
              <a:avLst/>
              <a:gdLst/>
              <a:ahLst/>
              <a:cxnLst/>
              <a:rect r="r" b="b" t="t" l="l"/>
              <a:pathLst>
                <a:path h="4480560" w="6888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705600" y="0"/>
                  </a:lnTo>
                  <a:cubicBezTo>
                    <a:pt x="6806565" y="0"/>
                    <a:pt x="6888480" y="81915"/>
                    <a:pt x="6888480" y="182880"/>
                  </a:cubicBezTo>
                  <a:lnTo>
                    <a:pt x="6888480" y="4297680"/>
                  </a:lnTo>
                  <a:cubicBezTo>
                    <a:pt x="6888480" y="4398645"/>
                    <a:pt x="6806565" y="4480560"/>
                    <a:pt x="6705600" y="4480560"/>
                  </a:cubicBezTo>
                  <a:lnTo>
                    <a:pt x="182880" y="4480560"/>
                  </a:lnTo>
                  <a:cubicBezTo>
                    <a:pt x="81915" y="4480560"/>
                    <a:pt x="0" y="4398645"/>
                    <a:pt x="0" y="4297680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417552" y="6144768"/>
            <a:ext cx="4562856" cy="617220"/>
            <a:chOff x="0" y="0"/>
            <a:chExt cx="6083808" cy="8229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083808" cy="822960"/>
            </a:xfrm>
            <a:custGeom>
              <a:avLst/>
              <a:gdLst/>
              <a:ahLst/>
              <a:cxnLst/>
              <a:rect r="r" b="b" t="t" l="l"/>
              <a:pathLst>
                <a:path h="822960" w="6083808">
                  <a:moveTo>
                    <a:pt x="0" y="0"/>
                  </a:moveTo>
                  <a:lnTo>
                    <a:pt x="6083808" y="0"/>
                  </a:lnTo>
                  <a:lnTo>
                    <a:pt x="6083808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044" r="0" b="-9404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6083808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700"/>
                </a:lnSpc>
              </a:pPr>
              <a:r>
                <a:rPr lang="ar-EG" sz="225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الاختبار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417552" y="6858000"/>
            <a:ext cx="4562856" cy="2194560"/>
            <a:chOff x="0" y="0"/>
            <a:chExt cx="6083808" cy="2926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083808" cy="2926080"/>
            </a:xfrm>
            <a:custGeom>
              <a:avLst/>
              <a:gdLst/>
              <a:ahLst/>
              <a:cxnLst/>
              <a:rect r="r" b="b" t="t" l="l"/>
              <a:pathLst>
                <a:path h="2926080" w="6083808">
                  <a:moveTo>
                    <a:pt x="0" y="0"/>
                  </a:moveTo>
                  <a:lnTo>
                    <a:pt x="6083808" y="0"/>
                  </a:lnTo>
                  <a:lnTo>
                    <a:pt x="6083808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09" t="0" r="-11709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0"/>
              <a:ext cx="6083808" cy="3021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 marL="339328" indent="-169664" lvl="1">
                <a:lnSpc>
                  <a:spcPts val="2812"/>
                </a:lnSpc>
                <a:buFont typeface="Arial"/>
                <a:buChar char="•"/>
              </a:pPr>
              <a:r>
                <a:rPr lang="ar-EG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اختبار يدوي عبر </a:t>
              </a: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Terminal</a:t>
              </a:r>
            </a:p>
            <a:p>
              <a:pPr algn="r" rtl="true" marL="339328" indent="-169664" lvl="1">
                <a:lnSpc>
                  <a:spcPts val="2812"/>
                </a:lnSpc>
                <a:buFont typeface="Arial"/>
                <a:buChar char="•"/>
              </a:pPr>
              <a:r>
                <a:rPr lang="ar-EG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محاكاة عدة عملاء (</a:t>
              </a: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sockets</a:t>
              </a:r>
              <a:r>
                <a:rPr lang="ar-EG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) للتأكد من التزامن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48640"/>
            <a:ext cx="16322040" cy="960120"/>
            <a:chOff x="0" y="0"/>
            <a:chExt cx="2176272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1762720" cy="1365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5040"/>
                </a:lnSpc>
              </a:pPr>
              <a:r>
                <a:rPr lang="ar-EG" sz="420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بنية النظام وآلية الاتصال الشبكي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61421" y="1508760"/>
            <a:ext cx="4417695" cy="1018223"/>
            <a:chOff x="0" y="0"/>
            <a:chExt cx="5890260" cy="13576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90260" cy="1357630"/>
            </a:xfrm>
            <a:custGeom>
              <a:avLst/>
              <a:gdLst/>
              <a:ahLst/>
              <a:cxnLst/>
              <a:rect r="r" b="b" t="t" l="l"/>
              <a:pathLst>
                <a:path h="1357630" w="5890260">
                  <a:moveTo>
                    <a:pt x="0" y="144814"/>
                  </a:moveTo>
                  <a:cubicBezTo>
                    <a:pt x="0" y="64824"/>
                    <a:pt x="67310" y="0"/>
                    <a:pt x="150368" y="0"/>
                  </a:cubicBezTo>
                  <a:lnTo>
                    <a:pt x="5739892" y="0"/>
                  </a:lnTo>
                  <a:cubicBezTo>
                    <a:pt x="5822950" y="0"/>
                    <a:pt x="5890260" y="64824"/>
                    <a:pt x="5890260" y="144814"/>
                  </a:cubicBezTo>
                  <a:lnTo>
                    <a:pt x="5890260" y="1212816"/>
                  </a:lnTo>
                  <a:cubicBezTo>
                    <a:pt x="5890260" y="1292806"/>
                    <a:pt x="5822950" y="1357630"/>
                    <a:pt x="5739892" y="1357630"/>
                  </a:cubicBezTo>
                  <a:lnTo>
                    <a:pt x="150368" y="1357630"/>
                  </a:lnTo>
                  <a:cubicBezTo>
                    <a:pt x="67310" y="1357630"/>
                    <a:pt x="0" y="1292806"/>
                    <a:pt x="0" y="1212816"/>
                  </a:cubicBezTo>
                  <a:close/>
                </a:path>
              </a:pathLst>
            </a:custGeom>
            <a:solidFill>
              <a:srgbClr val="F4F8FA"/>
            </a:solidFill>
            <a:ln w="28575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4575708" y="1522520"/>
            <a:ext cx="4389120" cy="990703"/>
            <a:chOff x="0" y="0"/>
            <a:chExt cx="5852160" cy="13209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52160" cy="1320937"/>
            </a:xfrm>
            <a:custGeom>
              <a:avLst/>
              <a:gdLst/>
              <a:ahLst/>
              <a:cxnLst/>
              <a:rect r="r" b="b" t="t" l="l"/>
              <a:pathLst>
                <a:path h="1320937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320937"/>
                  </a:lnTo>
                  <a:lnTo>
                    <a:pt x="0" y="13209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07" r="0" b="-3824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5852160" cy="13495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name_service.py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"chat-server" → host:port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51218" y="2860358"/>
            <a:ext cx="38100" cy="792480"/>
            <a:chOff x="0" y="0"/>
            <a:chExt cx="50800" cy="1056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800" cy="1056640"/>
            </a:xfrm>
            <a:custGeom>
              <a:avLst/>
              <a:gdLst/>
              <a:ahLst/>
              <a:cxnLst/>
              <a:rect r="r" b="b" t="t" l="l"/>
              <a:pathLst>
                <a:path h="1056640" w="50800">
                  <a:moveTo>
                    <a:pt x="0" y="0"/>
                  </a:moveTo>
                  <a:lnTo>
                    <a:pt x="50800" y="10566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618714" t="0" r="-2618714" b="0"/>
              </a:stretch>
            </a:blipFill>
            <a:ln w="38100" cap="sq">
              <a:solidFill>
                <a:srgbClr val="000000"/>
              </a:solidFill>
              <a:prstDash val="dash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261508" y="3633788"/>
            <a:ext cx="3017520" cy="1783080"/>
            <a:chOff x="0" y="0"/>
            <a:chExt cx="4023360" cy="2377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23360" cy="2377440"/>
            </a:xfrm>
            <a:custGeom>
              <a:avLst/>
              <a:gdLst/>
              <a:ahLst/>
              <a:cxnLst/>
              <a:rect r="r" b="b" t="t" l="l"/>
              <a:pathLst>
                <a:path h="2377440" w="4023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840480" y="0"/>
                  </a:lnTo>
                  <a:cubicBezTo>
                    <a:pt x="3941445" y="0"/>
                    <a:pt x="4023360" y="81915"/>
                    <a:pt x="4023360" y="182880"/>
                  </a:cubicBezTo>
                  <a:lnTo>
                    <a:pt x="4023360" y="2194560"/>
                  </a:lnTo>
                  <a:cubicBezTo>
                    <a:pt x="4023360" y="2295525"/>
                    <a:pt x="3941445" y="2377440"/>
                    <a:pt x="3840480" y="2377440"/>
                  </a:cubicBezTo>
                  <a:lnTo>
                    <a:pt x="182880" y="2377440"/>
                  </a:lnTo>
                  <a:cubicBezTo>
                    <a:pt x="81915" y="2377440"/>
                    <a:pt x="0" y="2295525"/>
                    <a:pt x="0" y="2194560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399936" y="3866960"/>
            <a:ext cx="754380" cy="754380"/>
            <a:chOff x="0" y="0"/>
            <a:chExt cx="1005840" cy="100584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261508" y="4731068"/>
            <a:ext cx="3017520" cy="617220"/>
            <a:chOff x="0" y="0"/>
            <a:chExt cx="4023360" cy="822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23360" cy="822960"/>
            </a:xfrm>
            <a:custGeom>
              <a:avLst/>
              <a:gdLst/>
              <a:ahLst/>
              <a:cxnLst/>
              <a:rect r="r" b="b" t="t" l="l"/>
              <a:pathLst>
                <a:path h="82296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02336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Server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(0.0.0.0)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97419" y="6450330"/>
            <a:ext cx="2360295" cy="1468755"/>
            <a:chOff x="0" y="0"/>
            <a:chExt cx="3147060" cy="19583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47060" cy="1958340"/>
            </a:xfrm>
            <a:custGeom>
              <a:avLst/>
              <a:gdLst/>
              <a:ahLst/>
              <a:cxnLst/>
              <a:rect r="r" b="b" t="t" l="l"/>
              <a:pathLst>
                <a:path h="1958340" w="3147060">
                  <a:moveTo>
                    <a:pt x="0" y="149225"/>
                  </a:moveTo>
                  <a:cubicBezTo>
                    <a:pt x="0" y="66802"/>
                    <a:pt x="66802" y="0"/>
                    <a:pt x="149225" y="0"/>
                  </a:cubicBezTo>
                  <a:lnTo>
                    <a:pt x="2997835" y="0"/>
                  </a:lnTo>
                  <a:cubicBezTo>
                    <a:pt x="3080258" y="0"/>
                    <a:pt x="3147060" y="66802"/>
                    <a:pt x="3147060" y="149225"/>
                  </a:cubicBezTo>
                  <a:lnTo>
                    <a:pt x="3147060" y="1809115"/>
                  </a:lnTo>
                  <a:cubicBezTo>
                    <a:pt x="3147060" y="1891538"/>
                    <a:pt x="3080258" y="1958340"/>
                    <a:pt x="2997835" y="1958340"/>
                  </a:cubicBezTo>
                  <a:lnTo>
                    <a:pt x="149225" y="1958340"/>
                  </a:lnTo>
                  <a:cubicBezTo>
                    <a:pt x="66802" y="1958340"/>
                    <a:pt x="0" y="1891538"/>
                    <a:pt x="0" y="1809115"/>
                  </a:cubicBezTo>
                  <a:close/>
                </a:path>
              </a:pathLst>
            </a:custGeom>
            <a:solidFill>
              <a:srgbClr val="F4F8FA"/>
            </a:solidFill>
            <a:ln w="28575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2362098" y="6601778"/>
            <a:ext cx="630936" cy="630936"/>
            <a:chOff x="0" y="0"/>
            <a:chExt cx="841248" cy="841248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511706" y="7218998"/>
            <a:ext cx="2331720" cy="617220"/>
            <a:chOff x="0" y="0"/>
            <a:chExt cx="3108960" cy="8229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108960" cy="822960"/>
            </a:xfrm>
            <a:custGeom>
              <a:avLst/>
              <a:gdLst/>
              <a:ahLst/>
              <a:cxnLst/>
              <a:rect r="r" b="b" t="t" l="l"/>
              <a:pathLst>
                <a:path h="82296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10" r="0" b="-2361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310896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 A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(Terminal)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590121" y="7143750"/>
            <a:ext cx="2360295" cy="1468755"/>
            <a:chOff x="0" y="0"/>
            <a:chExt cx="3147060" cy="19583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47060" cy="1958340"/>
            </a:xfrm>
            <a:custGeom>
              <a:avLst/>
              <a:gdLst/>
              <a:ahLst/>
              <a:cxnLst/>
              <a:rect r="r" b="b" t="t" l="l"/>
              <a:pathLst>
                <a:path h="1958340" w="3147060">
                  <a:moveTo>
                    <a:pt x="0" y="149225"/>
                  </a:moveTo>
                  <a:cubicBezTo>
                    <a:pt x="0" y="66802"/>
                    <a:pt x="66802" y="0"/>
                    <a:pt x="149225" y="0"/>
                  </a:cubicBezTo>
                  <a:lnTo>
                    <a:pt x="2997835" y="0"/>
                  </a:lnTo>
                  <a:cubicBezTo>
                    <a:pt x="3080258" y="0"/>
                    <a:pt x="3147060" y="66802"/>
                    <a:pt x="3147060" y="149225"/>
                  </a:cubicBezTo>
                  <a:lnTo>
                    <a:pt x="3147060" y="1809115"/>
                  </a:lnTo>
                  <a:cubicBezTo>
                    <a:pt x="3147060" y="1891538"/>
                    <a:pt x="3080258" y="1958340"/>
                    <a:pt x="2997835" y="1958340"/>
                  </a:cubicBezTo>
                  <a:lnTo>
                    <a:pt x="149225" y="1958340"/>
                  </a:lnTo>
                  <a:cubicBezTo>
                    <a:pt x="66802" y="1958340"/>
                    <a:pt x="0" y="1891538"/>
                    <a:pt x="0" y="1809115"/>
                  </a:cubicBezTo>
                  <a:close/>
                </a:path>
              </a:pathLst>
            </a:custGeom>
            <a:solidFill>
              <a:srgbClr val="F4F8FA"/>
            </a:solidFill>
            <a:ln w="28575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435750" y="7281482"/>
            <a:ext cx="630936" cy="630936"/>
            <a:chOff x="0" y="0"/>
            <a:chExt cx="841248" cy="841248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585358" y="7912418"/>
            <a:ext cx="2331720" cy="617220"/>
            <a:chOff x="0" y="0"/>
            <a:chExt cx="3108960" cy="8229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108960" cy="822960"/>
            </a:xfrm>
            <a:custGeom>
              <a:avLst/>
              <a:gdLst/>
              <a:ahLst/>
              <a:cxnLst/>
              <a:rect r="r" b="b" t="t" l="l"/>
              <a:pathLst>
                <a:path h="82296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10" r="0" b="-2361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310896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 B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(GUI)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747737" y="6409373"/>
            <a:ext cx="2360295" cy="1468755"/>
            <a:chOff x="0" y="0"/>
            <a:chExt cx="3147060" cy="19583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147060" cy="1958340"/>
            </a:xfrm>
            <a:custGeom>
              <a:avLst/>
              <a:gdLst/>
              <a:ahLst/>
              <a:cxnLst/>
              <a:rect r="r" b="b" t="t" l="l"/>
              <a:pathLst>
                <a:path h="1958340" w="3147060">
                  <a:moveTo>
                    <a:pt x="0" y="149225"/>
                  </a:moveTo>
                  <a:cubicBezTo>
                    <a:pt x="0" y="66802"/>
                    <a:pt x="66802" y="0"/>
                    <a:pt x="149225" y="0"/>
                  </a:cubicBezTo>
                  <a:lnTo>
                    <a:pt x="2997835" y="0"/>
                  </a:lnTo>
                  <a:cubicBezTo>
                    <a:pt x="3080258" y="0"/>
                    <a:pt x="3147060" y="66802"/>
                    <a:pt x="3147060" y="149225"/>
                  </a:cubicBezTo>
                  <a:lnTo>
                    <a:pt x="3147060" y="1809115"/>
                  </a:lnTo>
                  <a:cubicBezTo>
                    <a:pt x="3147060" y="1891538"/>
                    <a:pt x="3080258" y="1958340"/>
                    <a:pt x="2997835" y="1958340"/>
                  </a:cubicBezTo>
                  <a:lnTo>
                    <a:pt x="149225" y="1958340"/>
                  </a:lnTo>
                  <a:cubicBezTo>
                    <a:pt x="66802" y="1958340"/>
                    <a:pt x="0" y="1891538"/>
                    <a:pt x="0" y="1809115"/>
                  </a:cubicBezTo>
                  <a:close/>
                </a:path>
              </a:pathLst>
            </a:custGeom>
            <a:solidFill>
              <a:srgbClr val="F4F8FA"/>
            </a:solidFill>
            <a:ln w="28575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0612416" y="6670358"/>
            <a:ext cx="630936" cy="630936"/>
            <a:chOff x="0" y="0"/>
            <a:chExt cx="841248" cy="841248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762024" y="7178040"/>
            <a:ext cx="2331720" cy="617220"/>
            <a:chOff x="0" y="0"/>
            <a:chExt cx="3108960" cy="8229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108960" cy="822960"/>
            </a:xfrm>
            <a:custGeom>
              <a:avLst/>
              <a:gdLst/>
              <a:ahLst/>
              <a:cxnLst/>
              <a:rect r="r" b="b" t="t" l="l"/>
              <a:pathLst>
                <a:path h="82296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10" r="0" b="-2361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310896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 C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(GUI)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500735" y="1842135"/>
            <a:ext cx="3790950" cy="7494270"/>
            <a:chOff x="0" y="0"/>
            <a:chExt cx="5054600" cy="99923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054600" cy="9992360"/>
            </a:xfrm>
            <a:custGeom>
              <a:avLst/>
              <a:gdLst/>
              <a:ahLst/>
              <a:cxnLst/>
              <a:rect r="r" b="b" t="t" l="l"/>
              <a:pathLst>
                <a:path h="9992360" w="5054600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4870831" y="0"/>
                  </a:lnTo>
                  <a:cubicBezTo>
                    <a:pt x="4972304" y="0"/>
                    <a:pt x="5054600" y="82296"/>
                    <a:pt x="5054600" y="183769"/>
                  </a:cubicBezTo>
                  <a:lnTo>
                    <a:pt x="5054600" y="9808591"/>
                  </a:lnTo>
                  <a:cubicBezTo>
                    <a:pt x="5054600" y="9910064"/>
                    <a:pt x="4972304" y="9992360"/>
                    <a:pt x="4870831" y="9992360"/>
                  </a:cubicBezTo>
                  <a:lnTo>
                    <a:pt x="183769" y="9992360"/>
                  </a:lnTo>
                  <a:cubicBezTo>
                    <a:pt x="82296" y="9992360"/>
                    <a:pt x="0" y="9910064"/>
                    <a:pt x="0" y="9808591"/>
                  </a:cubicBezTo>
                  <a:close/>
                </a:path>
              </a:pathLst>
            </a:custGeom>
            <a:solidFill>
              <a:srgbClr val="F4F8FA"/>
            </a:solidFill>
            <a:ln w="19050" cap="sq">
              <a:solidFill>
                <a:srgbClr val="9FD8DB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3784580" y="2057400"/>
            <a:ext cx="3223260" cy="548640"/>
            <a:chOff x="0" y="0"/>
            <a:chExt cx="429768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297680" cy="731520"/>
            </a:xfrm>
            <a:custGeom>
              <a:avLst/>
              <a:gdLst/>
              <a:ahLst/>
              <a:cxnLst/>
              <a:rect r="r" b="b" t="t" l="l"/>
              <a:pathLst>
                <a:path h="73152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4297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ar-EG" sz="2100" b="true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بروتوكول التطبيق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784580" y="2743200"/>
            <a:ext cx="3223260" cy="6309360"/>
            <a:chOff x="0" y="0"/>
            <a:chExt cx="4297680" cy="84124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297680" cy="8412480"/>
            </a:xfrm>
            <a:custGeom>
              <a:avLst/>
              <a:gdLst/>
              <a:ahLst/>
              <a:cxnLst/>
              <a:rect r="r" b="b" t="t" l="l"/>
              <a:pathLst>
                <a:path h="84124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8412480"/>
                  </a:lnTo>
                  <a:lnTo>
                    <a:pt x="0" y="841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1147" t="0" r="-201147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0"/>
              <a:ext cx="4297680" cy="8507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 marL="312182" indent="-156091" lvl="1">
                <a:lnSpc>
                  <a:spcPts val="2691"/>
                </a:lnSpc>
                <a:buFont typeface="Arial"/>
                <a:buChar char="•"/>
              </a:pPr>
              <a:r>
                <a:rPr lang="en-US" sz="172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TCP Socket</a:t>
              </a:r>
              <a:r>
                <a:rPr lang="ar-EG" sz="172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 مباثر بين كل عميل والخادم</a:t>
              </a:r>
            </a:p>
            <a:p>
              <a:pPr algn="r" rtl="true" marL="312182" indent="-156091" lvl="1">
                <a:lnSpc>
                  <a:spcPts val="2691"/>
                </a:lnSpc>
                <a:buFont typeface="Arial"/>
                <a:buChar char="•"/>
              </a:pPr>
              <a:r>
                <a:rPr lang="en-US" sz="172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thread</a:t>
              </a:r>
              <a:r>
                <a:rPr lang="ar-EG" sz="172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 مستقل لكل عميل على الخادم</a:t>
              </a:r>
            </a:p>
            <a:p>
              <a:pPr algn="r" rtl="true" marL="312182" indent="-156091" lvl="1">
                <a:lnSpc>
                  <a:spcPts val="2691"/>
                </a:lnSpc>
                <a:buFont typeface="Arial"/>
                <a:buChar char="•"/>
              </a:pPr>
              <a:r>
                <a:rPr lang="en-US" sz="172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USERNAME_REQUEST → WELCOME|name</a:t>
              </a:r>
            </a:p>
            <a:p>
              <a:pPr algn="r" rtl="true" marL="312182" indent="-156091" lvl="1">
                <a:lnSpc>
                  <a:spcPts val="2691"/>
                </a:lnSpc>
                <a:buFont typeface="Arial"/>
                <a:buChar char="•"/>
              </a:pPr>
              <a:r>
                <a:rPr lang="ar-EG" sz="172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أوامر نصّية: /</a:t>
              </a:r>
              <a:r>
                <a:rPr lang="en-US" sz="172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users، /msg، /history</a:t>
              </a:r>
            </a:p>
            <a:p>
              <a:pPr algn="r" rtl="true" marL="312182" indent="-156091" lvl="1">
                <a:lnSpc>
                  <a:spcPts val="2691"/>
                </a:lnSpc>
                <a:buFont typeface="Arial"/>
                <a:buChar char="•"/>
              </a:pPr>
              <a:r>
                <a:rPr lang="en-US" sz="172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quit</a:t>
              </a:r>
              <a:r>
                <a:rPr lang="ar-EG" sz="172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 لإغلاق الاتصال بشكل نظيف</a:t>
              </a:r>
            </a:p>
            <a:p>
              <a:pPr algn="r" rtl="true" marL="312182" indent="-156091" lvl="1">
                <a:lnSpc>
                  <a:spcPts val="2691"/>
                </a:lnSpc>
                <a:buFont typeface="Arial"/>
                <a:buChar char="•"/>
              </a:pPr>
              <a:r>
                <a:rPr lang="ar-EG" sz="172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خدمة اسم: العميل لا يتعامل مع </a:t>
              </a:r>
              <a:r>
                <a:rPr lang="en-US" sz="172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IP</a:t>
              </a:r>
              <a:r>
                <a:rPr lang="ar-EG" sz="172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 مباشرة</a:t>
              </a:r>
            </a:p>
          </p:txBody>
        </p:sp>
      </p:grpSp>
      <p:sp>
        <p:nvSpPr>
          <p:cNvPr name="AutoShape 48" id="48"/>
          <p:cNvSpPr/>
          <p:nvPr/>
        </p:nvSpPr>
        <p:spPr>
          <a:xfrm flipH="true">
            <a:off x="6751218" y="2526982"/>
            <a:ext cx="19050" cy="112585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9" id="49"/>
          <p:cNvSpPr/>
          <p:nvPr/>
        </p:nvSpPr>
        <p:spPr>
          <a:xfrm flipH="true">
            <a:off x="6770268" y="5348288"/>
            <a:ext cx="0" cy="125349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>
            <a:off x="3857714" y="6601778"/>
            <a:ext cx="293160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>
            <a:off x="6770268" y="6601778"/>
            <a:ext cx="293160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>
            <a:off x="6770268" y="6601778"/>
            <a:ext cx="0" cy="54197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6322040" cy="1097280"/>
            <a:chOff x="0" y="0"/>
            <a:chExt cx="217627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839" r="0" b="-23983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76272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860"/>
                </a:lnSpc>
              </a:pPr>
              <a:r>
                <a:rPr lang="ar-EG" sz="405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إضافات وتطويرات تتجاوز المعالجة التقليدية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0595" y="2116455"/>
            <a:ext cx="7974330" cy="2145030"/>
            <a:chOff x="0" y="0"/>
            <a:chExt cx="10632440" cy="2860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32440" cy="2860040"/>
            </a:xfrm>
            <a:custGeom>
              <a:avLst/>
              <a:gdLst/>
              <a:ahLst/>
              <a:cxnLst/>
              <a:rect r="r" b="b" t="t" l="l"/>
              <a:pathLst>
                <a:path h="2860040" w="1063244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10447909" y="0"/>
                  </a:lnTo>
                  <a:cubicBezTo>
                    <a:pt x="10549763" y="0"/>
                    <a:pt x="10632440" y="82677"/>
                    <a:pt x="10632440" y="184531"/>
                  </a:cubicBezTo>
                  <a:lnTo>
                    <a:pt x="10632440" y="2675509"/>
                  </a:lnTo>
                  <a:cubicBezTo>
                    <a:pt x="10632440" y="2777363"/>
                    <a:pt x="10549763" y="2860040"/>
                    <a:pt x="10447909" y="2860040"/>
                  </a:cubicBezTo>
                  <a:lnTo>
                    <a:pt x="184531" y="2860040"/>
                  </a:lnTo>
                  <a:cubicBezTo>
                    <a:pt x="82677" y="2860040"/>
                    <a:pt x="0" y="2777363"/>
                    <a:pt x="0" y="2675509"/>
                  </a:cubicBezTo>
                  <a:close/>
                </a:path>
              </a:pathLst>
            </a:custGeom>
            <a:solidFill>
              <a:srgbClr val="F4F8FA"/>
            </a:solidFill>
            <a:ln w="19050" cap="sq">
              <a:solidFill>
                <a:srgbClr val="9FD8D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7191375" y="2294763"/>
            <a:ext cx="704850" cy="704850"/>
            <a:chOff x="0" y="0"/>
            <a:chExt cx="939800" cy="939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358634" y="2448306"/>
            <a:ext cx="370332" cy="370332"/>
            <a:chOff x="0" y="0"/>
            <a:chExt cx="493776" cy="493776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493776" cy="493776"/>
            </a:xfrm>
            <a:custGeom>
              <a:avLst/>
              <a:gdLst/>
              <a:ahLst/>
              <a:cxnLst/>
              <a:rect r="r" b="b" t="t" l="l"/>
              <a:pathLst>
                <a:path h="493776" w="493776">
                  <a:moveTo>
                    <a:pt x="0" y="0"/>
                  </a:moveTo>
                  <a:lnTo>
                    <a:pt x="493776" y="0"/>
                  </a:lnTo>
                  <a:lnTo>
                    <a:pt x="493776" y="493776"/>
                  </a:lnTo>
                  <a:lnTo>
                    <a:pt x="0" y="493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61872" y="2263140"/>
            <a:ext cx="5829300" cy="754380"/>
            <a:chOff x="0" y="0"/>
            <a:chExt cx="7772400" cy="1005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77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566" r="0" b="-10056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7724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30"/>
                </a:lnSpc>
              </a:pPr>
              <a:r>
                <a:rPr lang="ar-EG" sz="2025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رسائل خاصة</a:t>
              </a:r>
              <a:r>
                <a:rPr lang="en-US" sz="2025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(Private Messaging)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61872" y="2976372"/>
            <a:ext cx="7351776" cy="1138428"/>
            <a:chOff x="0" y="0"/>
            <a:chExt cx="9802368" cy="15179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802368" cy="1517904"/>
            </a:xfrm>
            <a:custGeom>
              <a:avLst/>
              <a:gdLst/>
              <a:ahLst/>
              <a:cxnLst/>
              <a:rect r="r" b="b" t="t" l="l"/>
              <a:pathLst>
                <a:path h="1517904" w="9802368">
                  <a:moveTo>
                    <a:pt x="0" y="0"/>
                  </a:moveTo>
                  <a:lnTo>
                    <a:pt x="9802368" y="0"/>
                  </a:lnTo>
                  <a:lnTo>
                    <a:pt x="9802368" y="1517904"/>
                  </a:lnTo>
                  <a:lnTo>
                    <a:pt x="0" y="15179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831" r="0" b="-7583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802368" cy="15655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173"/>
                </a:lnSpc>
              </a:pPr>
              <a:r>
                <a:rPr lang="ar-EG" sz="157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أنظمة الدردشة التعليمية المبسّطة غالباً تكتفي بالبث الجماعي فقط؛ أضفنا توجيهاً مباشراً لمستخدم واحد عبر أمر /</a:t>
              </a:r>
              <a:r>
                <a:rPr lang="en-US" sz="157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msg</a:t>
              </a:r>
              <a:r>
                <a:rPr lang="ar-EG" sz="157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17355" y="2116455"/>
            <a:ext cx="7974330" cy="2145030"/>
            <a:chOff x="0" y="0"/>
            <a:chExt cx="10632440" cy="2860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32440" cy="2860040"/>
            </a:xfrm>
            <a:custGeom>
              <a:avLst/>
              <a:gdLst/>
              <a:ahLst/>
              <a:cxnLst/>
              <a:rect r="r" b="b" t="t" l="l"/>
              <a:pathLst>
                <a:path h="2860040" w="1063244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10447909" y="0"/>
                  </a:lnTo>
                  <a:cubicBezTo>
                    <a:pt x="10549763" y="0"/>
                    <a:pt x="10632440" y="82677"/>
                    <a:pt x="10632440" y="184531"/>
                  </a:cubicBezTo>
                  <a:lnTo>
                    <a:pt x="10632440" y="2675509"/>
                  </a:lnTo>
                  <a:cubicBezTo>
                    <a:pt x="10632440" y="2777363"/>
                    <a:pt x="10549763" y="2860040"/>
                    <a:pt x="10447909" y="2860040"/>
                  </a:cubicBezTo>
                  <a:lnTo>
                    <a:pt x="184531" y="2860040"/>
                  </a:lnTo>
                  <a:cubicBezTo>
                    <a:pt x="82677" y="2860040"/>
                    <a:pt x="0" y="2777363"/>
                    <a:pt x="0" y="2675509"/>
                  </a:cubicBezTo>
                  <a:close/>
                </a:path>
              </a:pathLst>
            </a:custGeom>
            <a:solidFill>
              <a:srgbClr val="F4F8FA"/>
            </a:solidFill>
            <a:ln w="19050" cap="sq">
              <a:solidFill>
                <a:srgbClr val="9FD8DB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5558135" y="2294763"/>
            <a:ext cx="704850" cy="704850"/>
            <a:chOff x="0" y="0"/>
            <a:chExt cx="939800" cy="939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5725394" y="2448306"/>
            <a:ext cx="370332" cy="370332"/>
            <a:chOff x="0" y="0"/>
            <a:chExt cx="493776" cy="493776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493776" cy="493776"/>
            </a:xfrm>
            <a:custGeom>
              <a:avLst/>
              <a:gdLst/>
              <a:ahLst/>
              <a:cxnLst/>
              <a:rect r="r" b="b" t="t" l="l"/>
              <a:pathLst>
                <a:path h="493776" w="493776">
                  <a:moveTo>
                    <a:pt x="0" y="0"/>
                  </a:moveTo>
                  <a:lnTo>
                    <a:pt x="493776" y="0"/>
                  </a:lnTo>
                  <a:lnTo>
                    <a:pt x="493776" y="493776"/>
                  </a:lnTo>
                  <a:lnTo>
                    <a:pt x="0" y="493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628632" y="2263140"/>
            <a:ext cx="5829300" cy="754380"/>
            <a:chOff x="0" y="0"/>
            <a:chExt cx="7772400" cy="1005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77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566" r="0" b="-10056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7724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30"/>
                </a:lnSpc>
              </a:pPr>
              <a:r>
                <a:rPr lang="ar-EG" sz="2025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سجلّ دائم للمحادثات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628632" y="2976372"/>
            <a:ext cx="7351776" cy="1138428"/>
            <a:chOff x="0" y="0"/>
            <a:chExt cx="9802368" cy="15179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802368" cy="1517904"/>
            </a:xfrm>
            <a:custGeom>
              <a:avLst/>
              <a:gdLst/>
              <a:ahLst/>
              <a:cxnLst/>
              <a:rect r="r" b="b" t="t" l="l"/>
              <a:pathLst>
                <a:path h="1517904" w="9802368">
                  <a:moveTo>
                    <a:pt x="0" y="0"/>
                  </a:moveTo>
                  <a:lnTo>
                    <a:pt x="9802368" y="0"/>
                  </a:lnTo>
                  <a:lnTo>
                    <a:pt x="9802368" y="1517904"/>
                  </a:lnTo>
                  <a:lnTo>
                    <a:pt x="0" y="15179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831" r="0" b="-7583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802368" cy="15655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73"/>
                </a:lnSpc>
              </a:pPr>
              <a:r>
                <a:rPr lang="ar-EG" sz="157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كل رسالة (عامة أو خاصة) تُحفظ بتوقيت دقيق بملف</a:t>
              </a:r>
              <a:r>
                <a:rPr lang="en-US" sz="157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log، </a:t>
              </a:r>
              <a:r>
                <a:rPr lang="ar-EG" sz="157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بدل ضياع المحادثة عند إغلاق البرنامج</a:t>
              </a:r>
              <a:r>
                <a:rPr lang="en-US" sz="157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0595" y="4585335"/>
            <a:ext cx="7974330" cy="2145030"/>
            <a:chOff x="0" y="0"/>
            <a:chExt cx="10632440" cy="2860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32440" cy="2860040"/>
            </a:xfrm>
            <a:custGeom>
              <a:avLst/>
              <a:gdLst/>
              <a:ahLst/>
              <a:cxnLst/>
              <a:rect r="r" b="b" t="t" l="l"/>
              <a:pathLst>
                <a:path h="2860040" w="1063244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10447909" y="0"/>
                  </a:lnTo>
                  <a:cubicBezTo>
                    <a:pt x="10549763" y="0"/>
                    <a:pt x="10632440" y="82677"/>
                    <a:pt x="10632440" y="184531"/>
                  </a:cubicBezTo>
                  <a:lnTo>
                    <a:pt x="10632440" y="2675509"/>
                  </a:lnTo>
                  <a:cubicBezTo>
                    <a:pt x="10632440" y="2777363"/>
                    <a:pt x="10549763" y="2860040"/>
                    <a:pt x="10447909" y="2860040"/>
                  </a:cubicBezTo>
                  <a:lnTo>
                    <a:pt x="184531" y="2860040"/>
                  </a:lnTo>
                  <a:cubicBezTo>
                    <a:pt x="82677" y="2860040"/>
                    <a:pt x="0" y="2777363"/>
                    <a:pt x="0" y="2675509"/>
                  </a:cubicBezTo>
                  <a:close/>
                </a:path>
              </a:pathLst>
            </a:custGeom>
            <a:solidFill>
              <a:srgbClr val="F4F8FA"/>
            </a:solidFill>
            <a:ln w="19050" cap="sq">
              <a:solidFill>
                <a:srgbClr val="9FD8DB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7191375" y="4763643"/>
            <a:ext cx="704850" cy="704850"/>
            <a:chOff x="0" y="0"/>
            <a:chExt cx="939800" cy="939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7358634" y="4917186"/>
            <a:ext cx="370332" cy="370332"/>
            <a:chOff x="0" y="0"/>
            <a:chExt cx="493776" cy="493776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493776" cy="493776"/>
            </a:xfrm>
            <a:custGeom>
              <a:avLst/>
              <a:gdLst/>
              <a:ahLst/>
              <a:cxnLst/>
              <a:rect r="r" b="b" t="t" l="l"/>
              <a:pathLst>
                <a:path h="493776" w="493776">
                  <a:moveTo>
                    <a:pt x="0" y="0"/>
                  </a:moveTo>
                  <a:lnTo>
                    <a:pt x="493776" y="0"/>
                  </a:lnTo>
                  <a:lnTo>
                    <a:pt x="493776" y="493776"/>
                  </a:lnTo>
                  <a:lnTo>
                    <a:pt x="0" y="493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61872" y="4732020"/>
            <a:ext cx="5829300" cy="754380"/>
            <a:chOff x="0" y="0"/>
            <a:chExt cx="777240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77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566" r="0" b="-10056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7724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30"/>
                </a:lnSpc>
              </a:pPr>
              <a:r>
                <a:rPr lang="ar-EG" sz="2025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خدمة اسم بدل</a:t>
              </a:r>
              <a:r>
                <a:rPr lang="en-US" sz="2025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IP/Port </a:t>
              </a:r>
              <a:r>
                <a:rPr lang="ar-EG" sz="2025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مباشر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61872" y="5445252"/>
            <a:ext cx="7351776" cy="1138428"/>
            <a:chOff x="0" y="0"/>
            <a:chExt cx="9802368" cy="151790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802368" cy="1517904"/>
            </a:xfrm>
            <a:custGeom>
              <a:avLst/>
              <a:gdLst/>
              <a:ahLst/>
              <a:cxnLst/>
              <a:rect r="r" b="b" t="t" l="l"/>
              <a:pathLst>
                <a:path h="1517904" w="9802368">
                  <a:moveTo>
                    <a:pt x="0" y="0"/>
                  </a:moveTo>
                  <a:lnTo>
                    <a:pt x="9802368" y="0"/>
                  </a:lnTo>
                  <a:lnTo>
                    <a:pt x="9802368" y="1517904"/>
                  </a:lnTo>
                  <a:lnTo>
                    <a:pt x="0" y="15179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831" r="0" b="-7583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802368" cy="15655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173"/>
                </a:lnSpc>
              </a:pPr>
              <a:r>
                <a:rPr lang="ar-EG" sz="157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أضفنا طبقة </a:t>
              </a:r>
              <a:r>
                <a:rPr lang="en-US" sz="157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name_service.py</a:t>
              </a:r>
              <a:r>
                <a:rPr lang="ar-EG" sz="157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 تترجم اسم خدمة منطقي (</a:t>
              </a:r>
              <a:r>
                <a:rPr lang="en-US" sz="157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chat-server</a:t>
              </a:r>
              <a:r>
                <a:rPr lang="ar-EG" sz="157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) إلى عنوان حقيقي — يحاكي مبدأ </a:t>
              </a:r>
              <a:r>
                <a:rPr lang="en-US" sz="157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DNS</a:t>
              </a:r>
              <a:r>
                <a:rPr lang="ar-EG" sz="157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317355" y="4585335"/>
            <a:ext cx="7974330" cy="2145030"/>
            <a:chOff x="0" y="0"/>
            <a:chExt cx="10632440" cy="2860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632440" cy="2860040"/>
            </a:xfrm>
            <a:custGeom>
              <a:avLst/>
              <a:gdLst/>
              <a:ahLst/>
              <a:cxnLst/>
              <a:rect r="r" b="b" t="t" l="l"/>
              <a:pathLst>
                <a:path h="2860040" w="1063244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10447909" y="0"/>
                  </a:lnTo>
                  <a:cubicBezTo>
                    <a:pt x="10549763" y="0"/>
                    <a:pt x="10632440" y="82677"/>
                    <a:pt x="10632440" y="184531"/>
                  </a:cubicBezTo>
                  <a:lnTo>
                    <a:pt x="10632440" y="2675509"/>
                  </a:lnTo>
                  <a:cubicBezTo>
                    <a:pt x="10632440" y="2777363"/>
                    <a:pt x="10549763" y="2860040"/>
                    <a:pt x="10447909" y="2860040"/>
                  </a:cubicBezTo>
                  <a:lnTo>
                    <a:pt x="184531" y="2860040"/>
                  </a:lnTo>
                  <a:cubicBezTo>
                    <a:pt x="82677" y="2860040"/>
                    <a:pt x="0" y="2777363"/>
                    <a:pt x="0" y="2675509"/>
                  </a:cubicBezTo>
                  <a:close/>
                </a:path>
              </a:pathLst>
            </a:custGeom>
            <a:solidFill>
              <a:srgbClr val="F4F8FA"/>
            </a:solidFill>
            <a:ln w="19050" cap="sq">
              <a:solidFill>
                <a:srgbClr val="9FD8DB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5558135" y="4763643"/>
            <a:ext cx="704850" cy="704850"/>
            <a:chOff x="0" y="0"/>
            <a:chExt cx="939800" cy="939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5725394" y="4917186"/>
            <a:ext cx="370332" cy="370332"/>
            <a:chOff x="0" y="0"/>
            <a:chExt cx="493776" cy="493776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493776" cy="493776"/>
            </a:xfrm>
            <a:custGeom>
              <a:avLst/>
              <a:gdLst/>
              <a:ahLst/>
              <a:cxnLst/>
              <a:rect r="r" b="b" t="t" l="l"/>
              <a:pathLst>
                <a:path h="493776" w="493776">
                  <a:moveTo>
                    <a:pt x="0" y="0"/>
                  </a:moveTo>
                  <a:lnTo>
                    <a:pt x="493776" y="0"/>
                  </a:lnTo>
                  <a:lnTo>
                    <a:pt x="493776" y="493776"/>
                  </a:lnTo>
                  <a:lnTo>
                    <a:pt x="0" y="493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628632" y="4732020"/>
            <a:ext cx="5829300" cy="754380"/>
            <a:chOff x="0" y="0"/>
            <a:chExt cx="7772400" cy="10058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77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566" r="0" b="-10056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77724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30"/>
                </a:lnSpc>
              </a:pPr>
              <a:r>
                <a:rPr lang="ar-EG" sz="2025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واجهتان للعميل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28632" y="5445252"/>
            <a:ext cx="7351776" cy="1138428"/>
            <a:chOff x="0" y="0"/>
            <a:chExt cx="9802368" cy="151790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802368" cy="1517904"/>
            </a:xfrm>
            <a:custGeom>
              <a:avLst/>
              <a:gdLst/>
              <a:ahLst/>
              <a:cxnLst/>
              <a:rect r="r" b="b" t="t" l="l"/>
              <a:pathLst>
                <a:path h="1517904" w="9802368">
                  <a:moveTo>
                    <a:pt x="0" y="0"/>
                  </a:moveTo>
                  <a:lnTo>
                    <a:pt x="9802368" y="0"/>
                  </a:lnTo>
                  <a:lnTo>
                    <a:pt x="9802368" y="1517904"/>
                  </a:lnTo>
                  <a:lnTo>
                    <a:pt x="0" y="15179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831" r="0" b="-7583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9802368" cy="15655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173"/>
                </a:lnSpc>
              </a:pPr>
              <a:r>
                <a:rPr lang="ar-EG" sz="157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عميل </a:t>
              </a:r>
              <a:r>
                <a:rPr lang="en-US" sz="157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Terminal</a:t>
              </a:r>
              <a:r>
                <a:rPr lang="ar-EG" sz="157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 خفيف بدون أي مكتبات خارجية، وعميل </a:t>
              </a:r>
              <a:r>
                <a:rPr lang="en-US" sz="157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GUI</a:t>
              </a:r>
              <a:r>
                <a:rPr lang="ar-EG" sz="157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 حديث مبني على </a:t>
              </a:r>
              <a:r>
                <a:rPr lang="en-US" sz="157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customtkinter</a:t>
              </a:r>
              <a:r>
                <a:rPr lang="ar-EG" sz="157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 لتجربة استخدام أفضل.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50595" y="7054215"/>
            <a:ext cx="7974330" cy="2145030"/>
            <a:chOff x="0" y="0"/>
            <a:chExt cx="10632440" cy="28600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632440" cy="2860040"/>
            </a:xfrm>
            <a:custGeom>
              <a:avLst/>
              <a:gdLst/>
              <a:ahLst/>
              <a:cxnLst/>
              <a:rect r="r" b="b" t="t" l="l"/>
              <a:pathLst>
                <a:path h="2860040" w="1063244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10447909" y="0"/>
                  </a:lnTo>
                  <a:cubicBezTo>
                    <a:pt x="10549763" y="0"/>
                    <a:pt x="10632440" y="82677"/>
                    <a:pt x="10632440" y="184531"/>
                  </a:cubicBezTo>
                  <a:lnTo>
                    <a:pt x="10632440" y="2675509"/>
                  </a:lnTo>
                  <a:cubicBezTo>
                    <a:pt x="10632440" y="2777363"/>
                    <a:pt x="10549763" y="2860040"/>
                    <a:pt x="10447909" y="2860040"/>
                  </a:cubicBezTo>
                  <a:lnTo>
                    <a:pt x="184531" y="2860040"/>
                  </a:lnTo>
                  <a:cubicBezTo>
                    <a:pt x="82677" y="2860040"/>
                    <a:pt x="0" y="2777363"/>
                    <a:pt x="0" y="2675509"/>
                  </a:cubicBezTo>
                  <a:close/>
                </a:path>
              </a:pathLst>
            </a:custGeom>
            <a:solidFill>
              <a:srgbClr val="F4F8FA"/>
            </a:solidFill>
            <a:ln w="19050" cap="sq">
              <a:solidFill>
                <a:srgbClr val="9FD8DB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7191375" y="7232523"/>
            <a:ext cx="704850" cy="704850"/>
            <a:chOff x="0" y="0"/>
            <a:chExt cx="939800" cy="939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7358634" y="7386066"/>
            <a:ext cx="370332" cy="370332"/>
            <a:chOff x="0" y="0"/>
            <a:chExt cx="493776" cy="493776"/>
          </a:xfrm>
        </p:grpSpPr>
        <p:sp>
          <p:nvSpPr>
            <p:cNvPr name="Freeform 58" id="58" descr="preencoded.png"/>
            <p:cNvSpPr/>
            <p:nvPr/>
          </p:nvSpPr>
          <p:spPr>
            <a:xfrm flipH="false" flipV="false" rot="0">
              <a:off x="0" y="0"/>
              <a:ext cx="493776" cy="493776"/>
            </a:xfrm>
            <a:custGeom>
              <a:avLst/>
              <a:gdLst/>
              <a:ahLst/>
              <a:cxnLst/>
              <a:rect r="r" b="b" t="t" l="l"/>
              <a:pathLst>
                <a:path h="493776" w="493776">
                  <a:moveTo>
                    <a:pt x="0" y="0"/>
                  </a:moveTo>
                  <a:lnTo>
                    <a:pt x="493776" y="0"/>
                  </a:lnTo>
                  <a:lnTo>
                    <a:pt x="493776" y="493776"/>
                  </a:lnTo>
                  <a:lnTo>
                    <a:pt x="0" y="493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61872" y="7200900"/>
            <a:ext cx="5829300" cy="754380"/>
            <a:chOff x="0" y="0"/>
            <a:chExt cx="7772400" cy="10058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77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566" r="0" b="-10056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77724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30"/>
                </a:lnSpc>
              </a:pPr>
              <a:r>
                <a:rPr lang="ar-EG" sz="2025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رفض الأسماء المكرَّرة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61872" y="7914132"/>
            <a:ext cx="7351776" cy="1138428"/>
            <a:chOff x="0" y="0"/>
            <a:chExt cx="9802368" cy="151790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802368" cy="1517904"/>
            </a:xfrm>
            <a:custGeom>
              <a:avLst/>
              <a:gdLst/>
              <a:ahLst/>
              <a:cxnLst/>
              <a:rect r="r" b="b" t="t" l="l"/>
              <a:pathLst>
                <a:path h="1517904" w="9802368">
                  <a:moveTo>
                    <a:pt x="0" y="0"/>
                  </a:moveTo>
                  <a:lnTo>
                    <a:pt x="9802368" y="0"/>
                  </a:lnTo>
                  <a:lnTo>
                    <a:pt x="9802368" y="1517904"/>
                  </a:lnTo>
                  <a:lnTo>
                    <a:pt x="0" y="15179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831" r="0" b="-7583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9802368" cy="15655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73"/>
                </a:lnSpc>
              </a:pPr>
              <a:r>
                <a:rPr lang="ar-EG" sz="157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الخادم يتحقق من عدم تكرار اسم المستخدم قبل قبول الاتصال، لتفادي التضارب بين المستخدمين</a:t>
              </a:r>
              <a:r>
                <a:rPr lang="en-US" sz="157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317355" y="7054215"/>
            <a:ext cx="7974330" cy="2145030"/>
            <a:chOff x="0" y="0"/>
            <a:chExt cx="10632440" cy="28600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632440" cy="2860040"/>
            </a:xfrm>
            <a:custGeom>
              <a:avLst/>
              <a:gdLst/>
              <a:ahLst/>
              <a:cxnLst/>
              <a:rect r="r" b="b" t="t" l="l"/>
              <a:pathLst>
                <a:path h="2860040" w="1063244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10447909" y="0"/>
                  </a:lnTo>
                  <a:cubicBezTo>
                    <a:pt x="10549763" y="0"/>
                    <a:pt x="10632440" y="82677"/>
                    <a:pt x="10632440" y="184531"/>
                  </a:cubicBezTo>
                  <a:lnTo>
                    <a:pt x="10632440" y="2675509"/>
                  </a:lnTo>
                  <a:cubicBezTo>
                    <a:pt x="10632440" y="2777363"/>
                    <a:pt x="10549763" y="2860040"/>
                    <a:pt x="10447909" y="2860040"/>
                  </a:cubicBezTo>
                  <a:lnTo>
                    <a:pt x="184531" y="2860040"/>
                  </a:lnTo>
                  <a:cubicBezTo>
                    <a:pt x="82677" y="2860040"/>
                    <a:pt x="0" y="2777363"/>
                    <a:pt x="0" y="2675509"/>
                  </a:cubicBezTo>
                  <a:close/>
                </a:path>
              </a:pathLst>
            </a:custGeom>
            <a:solidFill>
              <a:srgbClr val="F4F8FA"/>
            </a:solidFill>
            <a:ln w="19050" cap="sq">
              <a:solidFill>
                <a:srgbClr val="9FD8DB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5558135" y="7232523"/>
            <a:ext cx="704850" cy="704850"/>
            <a:chOff x="0" y="0"/>
            <a:chExt cx="939800" cy="939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5725394" y="7386066"/>
            <a:ext cx="370332" cy="370332"/>
            <a:chOff x="0" y="0"/>
            <a:chExt cx="493776" cy="493776"/>
          </a:xfrm>
        </p:grpSpPr>
        <p:sp>
          <p:nvSpPr>
            <p:cNvPr name="Freeform 70" id="70" descr="preencoded.png"/>
            <p:cNvSpPr/>
            <p:nvPr/>
          </p:nvSpPr>
          <p:spPr>
            <a:xfrm flipH="false" flipV="false" rot="0">
              <a:off x="0" y="0"/>
              <a:ext cx="493776" cy="493776"/>
            </a:xfrm>
            <a:custGeom>
              <a:avLst/>
              <a:gdLst/>
              <a:ahLst/>
              <a:cxnLst/>
              <a:rect r="r" b="b" t="t" l="l"/>
              <a:pathLst>
                <a:path h="493776" w="493776">
                  <a:moveTo>
                    <a:pt x="0" y="0"/>
                  </a:moveTo>
                  <a:lnTo>
                    <a:pt x="493776" y="0"/>
                  </a:lnTo>
                  <a:lnTo>
                    <a:pt x="493776" y="493776"/>
                  </a:lnTo>
                  <a:lnTo>
                    <a:pt x="0" y="493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628632" y="7200900"/>
            <a:ext cx="5829300" cy="754380"/>
            <a:chOff x="0" y="0"/>
            <a:chExt cx="7772400" cy="10058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77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566" r="0" b="-10056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77724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30"/>
                </a:lnSpc>
              </a:pPr>
              <a:r>
                <a:rPr lang="en-US" sz="2025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Threading </a:t>
              </a:r>
              <a:r>
                <a:rPr lang="ar-EG" sz="2025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آمن</a:t>
              </a:r>
              <a:r>
                <a:rPr lang="en-US" sz="2025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(Thread-safe)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628632" y="7914132"/>
            <a:ext cx="7351776" cy="1138428"/>
            <a:chOff x="0" y="0"/>
            <a:chExt cx="9802368" cy="151790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802368" cy="1517904"/>
            </a:xfrm>
            <a:custGeom>
              <a:avLst/>
              <a:gdLst/>
              <a:ahLst/>
              <a:cxnLst/>
              <a:rect r="r" b="b" t="t" l="l"/>
              <a:pathLst>
                <a:path h="1517904" w="9802368">
                  <a:moveTo>
                    <a:pt x="0" y="0"/>
                  </a:moveTo>
                  <a:lnTo>
                    <a:pt x="9802368" y="0"/>
                  </a:lnTo>
                  <a:lnTo>
                    <a:pt x="9802368" y="1517904"/>
                  </a:lnTo>
                  <a:lnTo>
                    <a:pt x="0" y="15179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831" r="0" b="-7583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9802368" cy="15655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173"/>
                </a:lnSpc>
              </a:pPr>
              <a:r>
                <a:rPr lang="ar-EG" sz="157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استخدام قفل (</a:t>
              </a:r>
              <a:r>
                <a:rPr lang="en-US" sz="157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Lock</a:t>
              </a:r>
              <a:r>
                <a:rPr lang="ar-EG" sz="157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) عند أي تعديل على بيانات مشتركة بين عدّة </a:t>
              </a:r>
              <a:r>
                <a:rPr lang="en-US" sz="157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Threads</a:t>
              </a:r>
              <a:r>
                <a:rPr lang="ar-EG" sz="1575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 لتفادي تعارض البيانات.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6322040" cy="1097280"/>
            <a:chOff x="0" y="0"/>
            <a:chExt cx="217627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839" r="0" b="-23983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21762720" cy="1558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5400"/>
                </a:lnSpc>
              </a:pPr>
              <a:r>
                <a:rPr lang="ar-EG" sz="450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الاختبارات والنتائج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0595" y="2185035"/>
            <a:ext cx="16341090" cy="1596390"/>
            <a:chOff x="0" y="0"/>
            <a:chExt cx="21788120" cy="2128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88120" cy="2128520"/>
            </a:xfrm>
            <a:custGeom>
              <a:avLst/>
              <a:gdLst/>
              <a:ahLst/>
              <a:cxnLst/>
              <a:rect r="r" b="b" t="t" l="l"/>
              <a:pathLst>
                <a:path h="2128520" w="2178812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21640037" y="0"/>
                  </a:lnTo>
                  <a:cubicBezTo>
                    <a:pt x="21721826" y="0"/>
                    <a:pt x="21788120" y="66294"/>
                    <a:pt x="21788120" y="148082"/>
                  </a:cubicBezTo>
                  <a:lnTo>
                    <a:pt x="21788120" y="1980438"/>
                  </a:lnTo>
                  <a:cubicBezTo>
                    <a:pt x="21788120" y="2062226"/>
                    <a:pt x="21721826" y="2128520"/>
                    <a:pt x="21640037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EFF7F4"/>
            </a:solidFill>
            <a:ln w="19050" cap="sq">
              <a:solidFill>
                <a:srgbClr val="BFE3D4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03020" y="2674620"/>
            <a:ext cx="617220" cy="617220"/>
            <a:chOff x="0" y="0"/>
            <a:chExt cx="822960" cy="82296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194560" y="2331720"/>
            <a:ext cx="14538960" cy="548640"/>
            <a:chOff x="0" y="0"/>
            <a:chExt cx="1938528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385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9385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10"/>
                </a:lnSpc>
              </a:pPr>
              <a:r>
                <a:rPr lang="ar-EG" sz="2175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نجاح الاتصال الشبكي بين العميل والخادم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94560" y="2880360"/>
            <a:ext cx="14538960" cy="822960"/>
            <a:chOff x="0" y="0"/>
            <a:chExt cx="1938528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385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235" r="0" b="-29423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9385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277"/>
                </a:lnSpc>
              </a:pPr>
              <a:r>
                <a:rPr lang="ar-EG" sz="16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تم التأكد من اتصال عدّة عملاء بالخادم بنفس الوقت بدون تعارض، عبر اختبارات مباشرة بمحاكاة </a:t>
              </a:r>
              <a:r>
                <a:rPr lang="en-US" sz="16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Sockets</a:t>
              </a:r>
              <a:r>
                <a:rPr lang="ar-EG" sz="16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0595" y="4009263"/>
            <a:ext cx="16341090" cy="1596390"/>
            <a:chOff x="0" y="0"/>
            <a:chExt cx="21788120" cy="2128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88120" cy="2128520"/>
            </a:xfrm>
            <a:custGeom>
              <a:avLst/>
              <a:gdLst/>
              <a:ahLst/>
              <a:cxnLst/>
              <a:rect r="r" b="b" t="t" l="l"/>
              <a:pathLst>
                <a:path h="2128520" w="2178812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21640037" y="0"/>
                  </a:lnTo>
                  <a:cubicBezTo>
                    <a:pt x="21721826" y="0"/>
                    <a:pt x="21788120" y="66294"/>
                    <a:pt x="21788120" y="148082"/>
                  </a:cubicBezTo>
                  <a:lnTo>
                    <a:pt x="21788120" y="1980438"/>
                  </a:lnTo>
                  <a:cubicBezTo>
                    <a:pt x="21788120" y="2062226"/>
                    <a:pt x="21721826" y="2128520"/>
                    <a:pt x="21640037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EFF7F4"/>
            </a:solidFill>
            <a:ln w="19050" cap="sq">
              <a:solidFill>
                <a:srgbClr val="BFE3D4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303020" y="4498848"/>
            <a:ext cx="617220" cy="617220"/>
            <a:chOff x="0" y="0"/>
            <a:chExt cx="822960" cy="82296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194560" y="4155948"/>
            <a:ext cx="14538960" cy="548640"/>
            <a:chOff x="0" y="0"/>
            <a:chExt cx="1938528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385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9385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10"/>
                </a:lnSpc>
              </a:pPr>
              <a:r>
                <a:rPr lang="ar-EG" sz="2175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دعم خدمة الاسم</a:t>
              </a:r>
              <a:r>
                <a:rPr lang="en-US" sz="2175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(DNS </a:t>
              </a:r>
              <a:r>
                <a:rPr lang="ar-EG" sz="2175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ضمني</a:t>
              </a:r>
              <a:r>
                <a:rPr lang="en-US" sz="2175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194560" y="4704588"/>
            <a:ext cx="14538960" cy="822960"/>
            <a:chOff x="0" y="0"/>
            <a:chExt cx="19385280" cy="1097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385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235" r="0" b="-29423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9385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277"/>
                </a:lnSpc>
              </a:pPr>
              <a:r>
                <a:rPr lang="ar-EG" sz="16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العميل لا يتصل بـ </a:t>
              </a:r>
              <a:r>
                <a:rPr lang="en-US" sz="16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IP/Port</a:t>
              </a:r>
              <a:r>
                <a:rPr lang="ar-EG" sz="16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 مباشرة، بل باسم خدمة (</a:t>
              </a:r>
              <a:r>
                <a:rPr lang="en-US" sz="16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chat-server</a:t>
              </a:r>
              <a:r>
                <a:rPr lang="ar-EG" sz="16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) يُترجَم تلقائياً عبر </a:t>
              </a:r>
              <a:r>
                <a:rPr lang="en-US" sz="16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name_service.py</a:t>
              </a:r>
              <a:r>
                <a:rPr lang="ar-EG" sz="16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50595" y="5833491"/>
            <a:ext cx="16341090" cy="1596390"/>
            <a:chOff x="0" y="0"/>
            <a:chExt cx="21788120" cy="2128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788120" cy="2128520"/>
            </a:xfrm>
            <a:custGeom>
              <a:avLst/>
              <a:gdLst/>
              <a:ahLst/>
              <a:cxnLst/>
              <a:rect r="r" b="b" t="t" l="l"/>
              <a:pathLst>
                <a:path h="2128520" w="2178812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21640037" y="0"/>
                  </a:lnTo>
                  <a:cubicBezTo>
                    <a:pt x="21721826" y="0"/>
                    <a:pt x="21788120" y="66294"/>
                    <a:pt x="21788120" y="148082"/>
                  </a:cubicBezTo>
                  <a:lnTo>
                    <a:pt x="21788120" y="1980438"/>
                  </a:lnTo>
                  <a:cubicBezTo>
                    <a:pt x="21788120" y="2062226"/>
                    <a:pt x="21721826" y="2128520"/>
                    <a:pt x="21640037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EFF7F4"/>
            </a:solidFill>
            <a:ln w="19050" cap="sq">
              <a:solidFill>
                <a:srgbClr val="BFE3D4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303020" y="6323076"/>
            <a:ext cx="617220" cy="617220"/>
            <a:chOff x="0" y="0"/>
            <a:chExt cx="822960" cy="82296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2194560" y="5980176"/>
            <a:ext cx="14538960" cy="548640"/>
            <a:chOff x="0" y="0"/>
            <a:chExt cx="1938528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385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9385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10"/>
                </a:lnSpc>
              </a:pPr>
              <a:r>
                <a:rPr lang="ar-EG" sz="2175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نجاح منطق الدردشة فعلياً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194560" y="6528816"/>
            <a:ext cx="14538960" cy="822960"/>
            <a:chOff x="0" y="0"/>
            <a:chExt cx="19385280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385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235" r="0" b="-29423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19385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277"/>
                </a:lnSpc>
              </a:pPr>
              <a:r>
                <a:rPr lang="ar-EG" sz="16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الرسائل العامة والخاصة (/</a:t>
              </a:r>
              <a:r>
                <a:rPr lang="en-US" sz="16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msg</a:t>
              </a:r>
              <a:r>
                <a:rPr lang="ar-EG" sz="16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) تنتقل بنجاح بين المستخدمين، مع تسجيل صحيح بملف السجلّ.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60120" y="7658481"/>
            <a:ext cx="16341090" cy="1596390"/>
            <a:chOff x="0" y="0"/>
            <a:chExt cx="21788120" cy="2128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788120" cy="2128520"/>
            </a:xfrm>
            <a:custGeom>
              <a:avLst/>
              <a:gdLst/>
              <a:ahLst/>
              <a:cxnLst/>
              <a:rect r="r" b="b" t="t" l="l"/>
              <a:pathLst>
                <a:path h="2128520" w="2178812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21640037" y="0"/>
                  </a:lnTo>
                  <a:cubicBezTo>
                    <a:pt x="21721826" y="0"/>
                    <a:pt x="21788120" y="66294"/>
                    <a:pt x="21788120" y="148082"/>
                  </a:cubicBezTo>
                  <a:lnTo>
                    <a:pt x="21788120" y="1980438"/>
                  </a:lnTo>
                  <a:cubicBezTo>
                    <a:pt x="21788120" y="2062226"/>
                    <a:pt x="21721826" y="2128520"/>
                    <a:pt x="21640037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EFF7F4"/>
            </a:solidFill>
            <a:ln w="19050" cap="sq">
              <a:solidFill>
                <a:srgbClr val="BFE3D4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2194560" y="8349996"/>
            <a:ext cx="14538960" cy="822960"/>
            <a:chOff x="0" y="0"/>
            <a:chExt cx="1938528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9385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235" r="0" b="-29423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19385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277"/>
                </a:lnSpc>
              </a:pPr>
              <a:r>
                <a:rPr lang="ar-EG" sz="16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تم الاختبار محلياً (</a:t>
              </a:r>
              <a:r>
                <a:rPr lang="en-US" sz="16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loopback</a:t>
              </a:r>
              <a:r>
                <a:rPr lang="ar-EG" sz="16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) بنجاح؛ الاختبار على شبكة حقيقية متعددة الأجهزة يتطلب فقط تعديل عنوان الخادم في </a:t>
              </a:r>
              <a:r>
                <a:rPr lang="en-US" sz="16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service_config.json</a:t>
              </a:r>
              <a:r>
                <a:rPr lang="ar-EG" sz="16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، وهي خطوة لاحقة قبل العرض النهائي.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194560" y="7829931"/>
            <a:ext cx="14538960" cy="548640"/>
            <a:chOff x="0" y="0"/>
            <a:chExt cx="1938528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385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9385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10"/>
                </a:lnSpc>
              </a:pPr>
              <a:r>
                <a:rPr lang="ar-EG" sz="2175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تنفيذ حقيقي على عدّة أجهزة فعلية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03020" y="8144256"/>
            <a:ext cx="617220" cy="617220"/>
            <a:chOff x="0" y="0"/>
            <a:chExt cx="822960" cy="822960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6322040" cy="1097280"/>
            <a:chOff x="0" y="0"/>
            <a:chExt cx="217627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839" r="0" b="-23983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76272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860"/>
                </a:lnSpc>
              </a:pPr>
              <a:r>
                <a:rPr lang="ar-EG" sz="405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التنفيذ العملي — دليل تشغيل خطوة بخطوة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910560" y="2125980"/>
            <a:ext cx="754380" cy="754380"/>
            <a:chOff x="0" y="0"/>
            <a:chExt cx="1005840" cy="1005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910560" y="2125980"/>
            <a:ext cx="754380" cy="754380"/>
            <a:chOff x="0" y="0"/>
            <a:chExt cx="1005840" cy="1005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058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0120" y="2098548"/>
            <a:ext cx="14744700" cy="1069848"/>
            <a:chOff x="0" y="0"/>
            <a:chExt cx="19659600" cy="14264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65960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9659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9513296" y="0"/>
                  </a:lnTo>
                  <a:cubicBezTo>
                    <a:pt x="19594068" y="0"/>
                    <a:pt x="19659600" y="65532"/>
                    <a:pt x="19659600" y="146304"/>
                  </a:cubicBezTo>
                  <a:lnTo>
                    <a:pt x="19659600" y="1280160"/>
                  </a:lnTo>
                  <a:cubicBezTo>
                    <a:pt x="19659600" y="1360932"/>
                    <a:pt x="19594068" y="1426464"/>
                    <a:pt x="19513296" y="1426464"/>
                  </a:cubicBezTo>
                  <a:lnTo>
                    <a:pt x="146304" y="1426464"/>
                  </a:lnTo>
                  <a:cubicBezTo>
                    <a:pt x="65532" y="1426464"/>
                    <a:pt x="0" y="1360932"/>
                    <a:pt x="0" y="1280160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03020" y="2098548"/>
            <a:ext cx="14127480" cy="1069848"/>
            <a:chOff x="0" y="0"/>
            <a:chExt cx="18836640" cy="14264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836639" cy="1426464"/>
            </a:xfrm>
            <a:custGeom>
              <a:avLst/>
              <a:gdLst/>
              <a:ahLst/>
              <a:cxnLst/>
              <a:rect r="r" b="b" t="t" l="l"/>
              <a:pathLst>
                <a:path h="1426464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302" r="0" b="-20730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8836640" cy="1474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340"/>
                </a:lnSpc>
              </a:pPr>
              <a:r>
                <a:rPr lang="ar-EG" sz="19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تثبيت </a:t>
              </a:r>
              <a:r>
                <a:rPr lang="en-US" sz="19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3</a:t>
              </a:r>
              <a:r>
                <a:rPr lang="ar-EG" sz="19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 على كل الأجهزة (الخادم وكل عميل).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910560" y="3374136"/>
            <a:ext cx="754380" cy="754380"/>
            <a:chOff x="0" y="0"/>
            <a:chExt cx="1005840" cy="1005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910560" y="3374136"/>
            <a:ext cx="754380" cy="754380"/>
            <a:chOff x="0" y="0"/>
            <a:chExt cx="1005840" cy="1005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058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0120" y="3346704"/>
            <a:ext cx="14744700" cy="1069848"/>
            <a:chOff x="0" y="0"/>
            <a:chExt cx="19659600" cy="14264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65960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9659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9513296" y="0"/>
                  </a:lnTo>
                  <a:cubicBezTo>
                    <a:pt x="19594068" y="0"/>
                    <a:pt x="19659600" y="65532"/>
                    <a:pt x="19659600" y="146304"/>
                  </a:cubicBezTo>
                  <a:lnTo>
                    <a:pt x="19659600" y="1280160"/>
                  </a:lnTo>
                  <a:cubicBezTo>
                    <a:pt x="19659600" y="1360932"/>
                    <a:pt x="19594068" y="1426464"/>
                    <a:pt x="19513296" y="1426464"/>
                  </a:cubicBezTo>
                  <a:lnTo>
                    <a:pt x="146304" y="1426464"/>
                  </a:lnTo>
                  <a:cubicBezTo>
                    <a:pt x="65532" y="1426464"/>
                    <a:pt x="0" y="1360932"/>
                    <a:pt x="0" y="1280160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03020" y="3346704"/>
            <a:ext cx="14127480" cy="1069848"/>
            <a:chOff x="0" y="0"/>
            <a:chExt cx="18836640" cy="14264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836639" cy="1426464"/>
            </a:xfrm>
            <a:custGeom>
              <a:avLst/>
              <a:gdLst/>
              <a:ahLst/>
              <a:cxnLst/>
              <a:rect r="r" b="b" t="t" l="l"/>
              <a:pathLst>
                <a:path h="1426464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302" r="0" b="-20730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8836640" cy="1474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340"/>
                </a:lnSpc>
              </a:pPr>
              <a:r>
                <a:rPr lang="ar-EG" sz="19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للعميل بواجهة رسومية فقط: تشغيل </a:t>
              </a:r>
              <a:r>
                <a:rPr lang="en-US" sz="19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pip install customtkinter</a:t>
              </a:r>
              <a:r>
                <a:rPr lang="ar-EG" sz="19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910560" y="4622292"/>
            <a:ext cx="754380" cy="754380"/>
            <a:chOff x="0" y="0"/>
            <a:chExt cx="1005840" cy="1005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5910560" y="4622292"/>
            <a:ext cx="754380" cy="754380"/>
            <a:chOff x="0" y="0"/>
            <a:chExt cx="1005840" cy="1005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058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60120" y="4594860"/>
            <a:ext cx="14744700" cy="1069848"/>
            <a:chOff x="0" y="0"/>
            <a:chExt cx="19659600" cy="142646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65960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9659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9513296" y="0"/>
                  </a:lnTo>
                  <a:cubicBezTo>
                    <a:pt x="19594068" y="0"/>
                    <a:pt x="19659600" y="65532"/>
                    <a:pt x="19659600" y="146304"/>
                  </a:cubicBezTo>
                  <a:lnTo>
                    <a:pt x="19659600" y="1280160"/>
                  </a:lnTo>
                  <a:cubicBezTo>
                    <a:pt x="19659600" y="1360932"/>
                    <a:pt x="19594068" y="1426464"/>
                    <a:pt x="19513296" y="1426464"/>
                  </a:cubicBezTo>
                  <a:lnTo>
                    <a:pt x="146304" y="1426464"/>
                  </a:lnTo>
                  <a:cubicBezTo>
                    <a:pt x="65532" y="1426464"/>
                    <a:pt x="0" y="1360932"/>
                    <a:pt x="0" y="1280160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03020" y="4594860"/>
            <a:ext cx="14127480" cy="1069848"/>
            <a:chOff x="0" y="0"/>
            <a:chExt cx="18836640" cy="14264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836639" cy="1426464"/>
            </a:xfrm>
            <a:custGeom>
              <a:avLst/>
              <a:gdLst/>
              <a:ahLst/>
              <a:cxnLst/>
              <a:rect r="r" b="b" t="t" l="l"/>
              <a:pathLst>
                <a:path h="1426464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302" r="0" b="-20730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8836640" cy="1474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340"/>
                </a:lnSpc>
              </a:pPr>
              <a:r>
                <a:rPr lang="ar-EG" sz="19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تشغيل الخادم بجهاز واحد: </a:t>
              </a:r>
              <a:r>
                <a:rPr lang="en-US" sz="19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server.py</a:t>
              </a:r>
              <a:r>
                <a:rPr lang="ar-EG" sz="19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 — سيظهر [</a:t>
              </a:r>
              <a:r>
                <a:rPr lang="en-US" sz="19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SERVER STARTED</a:t>
              </a:r>
              <a:r>
                <a:rPr lang="ar-EG" sz="19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].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910560" y="5870448"/>
            <a:ext cx="754380" cy="754380"/>
            <a:chOff x="0" y="0"/>
            <a:chExt cx="100584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5910560" y="5870448"/>
            <a:ext cx="754380" cy="754380"/>
            <a:chOff x="0" y="0"/>
            <a:chExt cx="1005840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0058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60120" y="5843016"/>
            <a:ext cx="14744700" cy="1069848"/>
            <a:chOff x="0" y="0"/>
            <a:chExt cx="19659600" cy="142646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65960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9659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9513296" y="0"/>
                  </a:lnTo>
                  <a:cubicBezTo>
                    <a:pt x="19594068" y="0"/>
                    <a:pt x="19659600" y="65532"/>
                    <a:pt x="19659600" y="146304"/>
                  </a:cubicBezTo>
                  <a:lnTo>
                    <a:pt x="19659600" y="1280160"/>
                  </a:lnTo>
                  <a:cubicBezTo>
                    <a:pt x="19659600" y="1360932"/>
                    <a:pt x="19594068" y="1426464"/>
                    <a:pt x="19513296" y="1426464"/>
                  </a:cubicBezTo>
                  <a:lnTo>
                    <a:pt x="146304" y="1426464"/>
                  </a:lnTo>
                  <a:cubicBezTo>
                    <a:pt x="65532" y="1426464"/>
                    <a:pt x="0" y="1360932"/>
                    <a:pt x="0" y="1280160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03020" y="5843016"/>
            <a:ext cx="14127480" cy="1069848"/>
            <a:chOff x="0" y="0"/>
            <a:chExt cx="18836640" cy="142646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8836639" cy="1426464"/>
            </a:xfrm>
            <a:custGeom>
              <a:avLst/>
              <a:gdLst/>
              <a:ahLst/>
              <a:cxnLst/>
              <a:rect r="r" b="b" t="t" l="l"/>
              <a:pathLst>
                <a:path h="1426464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302" r="0" b="-20730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8836640" cy="1474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340"/>
                </a:lnSpc>
              </a:pPr>
              <a:r>
                <a:rPr lang="ar-EG" sz="19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على كل جهاز عميل: </a:t>
              </a:r>
              <a:r>
                <a:rPr lang="en-US" sz="19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client.py</a:t>
              </a:r>
              <a:r>
                <a:rPr lang="ar-EG" sz="19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 (نص) أو </a:t>
              </a:r>
              <a:r>
                <a:rPr lang="en-US" sz="19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client_gui.py</a:t>
              </a:r>
              <a:r>
                <a:rPr lang="ar-EG" sz="19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 (واجهة رسومية).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910560" y="7118604"/>
            <a:ext cx="754380" cy="754380"/>
            <a:chOff x="0" y="0"/>
            <a:chExt cx="1005840" cy="1005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5910560" y="7118604"/>
            <a:ext cx="754380" cy="754380"/>
            <a:chOff x="0" y="0"/>
            <a:chExt cx="1005840" cy="10058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058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0120" y="7091172"/>
            <a:ext cx="14744700" cy="1069848"/>
            <a:chOff x="0" y="0"/>
            <a:chExt cx="19659600" cy="142646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965960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9659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9513296" y="0"/>
                  </a:lnTo>
                  <a:cubicBezTo>
                    <a:pt x="19594068" y="0"/>
                    <a:pt x="19659600" y="65532"/>
                    <a:pt x="19659600" y="146304"/>
                  </a:cubicBezTo>
                  <a:lnTo>
                    <a:pt x="19659600" y="1280160"/>
                  </a:lnTo>
                  <a:cubicBezTo>
                    <a:pt x="19659600" y="1360932"/>
                    <a:pt x="19594068" y="1426464"/>
                    <a:pt x="19513296" y="1426464"/>
                  </a:cubicBezTo>
                  <a:lnTo>
                    <a:pt x="146304" y="1426464"/>
                  </a:lnTo>
                  <a:cubicBezTo>
                    <a:pt x="65532" y="1426464"/>
                    <a:pt x="0" y="1360932"/>
                    <a:pt x="0" y="1280160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303020" y="7091172"/>
            <a:ext cx="14127480" cy="1069848"/>
            <a:chOff x="0" y="0"/>
            <a:chExt cx="18836640" cy="142646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8836639" cy="1426464"/>
            </a:xfrm>
            <a:custGeom>
              <a:avLst/>
              <a:gdLst/>
              <a:ahLst/>
              <a:cxnLst/>
              <a:rect r="r" b="b" t="t" l="l"/>
              <a:pathLst>
                <a:path h="1426464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302" r="0" b="-20730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18836640" cy="1474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340"/>
                </a:lnSpc>
              </a:pPr>
              <a:r>
                <a:rPr lang="ar-EG" sz="19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إدخال اسم مستخدم — سيتم الاتصال تلقائياً بالخادم عبر اسم الخدمة </a:t>
              </a:r>
              <a:r>
                <a:rPr lang="en-US" sz="19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chat-server</a:t>
              </a:r>
              <a:r>
                <a:rPr lang="ar-EG" sz="19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5910560" y="8366760"/>
            <a:ext cx="754380" cy="754380"/>
            <a:chOff x="0" y="0"/>
            <a:chExt cx="1005840" cy="10058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5910560" y="8366760"/>
            <a:ext cx="754380" cy="754380"/>
            <a:chOff x="0" y="0"/>
            <a:chExt cx="1005840" cy="10058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0058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60120" y="8339328"/>
            <a:ext cx="14744700" cy="1069848"/>
            <a:chOff x="0" y="0"/>
            <a:chExt cx="19659600" cy="142646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965960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9659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9513296" y="0"/>
                  </a:lnTo>
                  <a:cubicBezTo>
                    <a:pt x="19594068" y="0"/>
                    <a:pt x="19659600" y="65532"/>
                    <a:pt x="19659600" y="146304"/>
                  </a:cubicBezTo>
                  <a:lnTo>
                    <a:pt x="19659600" y="1280160"/>
                  </a:lnTo>
                  <a:cubicBezTo>
                    <a:pt x="19659600" y="1360932"/>
                    <a:pt x="19594068" y="1426464"/>
                    <a:pt x="19513296" y="1426464"/>
                  </a:cubicBezTo>
                  <a:lnTo>
                    <a:pt x="146304" y="1426464"/>
                  </a:lnTo>
                  <a:cubicBezTo>
                    <a:pt x="65532" y="1426464"/>
                    <a:pt x="0" y="1360932"/>
                    <a:pt x="0" y="1280160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303020" y="8339328"/>
            <a:ext cx="14127480" cy="1069848"/>
            <a:chOff x="0" y="0"/>
            <a:chExt cx="18836640" cy="142646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8836639" cy="1426464"/>
            </a:xfrm>
            <a:custGeom>
              <a:avLst/>
              <a:gdLst/>
              <a:ahLst/>
              <a:cxnLst/>
              <a:rect r="r" b="b" t="t" l="l"/>
              <a:pathLst>
                <a:path h="1426464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302" r="0" b="-20730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18836640" cy="1474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340"/>
                </a:lnSpc>
              </a:pPr>
              <a:r>
                <a:rPr lang="ar-EG" sz="19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الكتابة لإرسال رسالة عامة، أو استخدام /</a:t>
              </a:r>
              <a:r>
                <a:rPr lang="en-US" sz="19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msg، /users، /history</a:t>
              </a:r>
              <a:r>
                <a:rPr lang="ar-EG" sz="19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، أو </a:t>
              </a:r>
              <a:r>
                <a:rPr lang="en-US" sz="19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quit</a:t>
              </a:r>
              <a:r>
                <a:rPr lang="ar-EG" sz="1950">
                  <a:solidFill>
                    <a:srgbClr val="1B2B3A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 للخروج.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43200" y="-2743200"/>
            <a:ext cx="6858000" cy="6858000"/>
            <a:chOff x="0" y="0"/>
            <a:chExt cx="9144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1C7293">
                <a:alpha val="392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401800" y="6858000"/>
            <a:ext cx="6172200" cy="6172200"/>
            <a:chOff x="0" y="0"/>
            <a:chExt cx="8229600" cy="822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29600" cy="8229600"/>
            </a:xfrm>
            <a:custGeom>
              <a:avLst/>
              <a:gdLst/>
              <a:ahLst/>
              <a:cxnLst/>
              <a:rect r="r" b="b" t="t" l="l"/>
              <a:pathLst>
                <a:path h="8229600" w="8229600">
                  <a:moveTo>
                    <a:pt x="0" y="4114800"/>
                  </a:moveTo>
                  <a:cubicBezTo>
                    <a:pt x="0" y="1842262"/>
                    <a:pt x="1842262" y="0"/>
                    <a:pt x="4114800" y="0"/>
                  </a:cubicBezTo>
                  <a:cubicBezTo>
                    <a:pt x="6387338" y="0"/>
                    <a:pt x="8229600" y="1842262"/>
                    <a:pt x="8229600" y="4114800"/>
                  </a:cubicBezTo>
                  <a:cubicBezTo>
                    <a:pt x="8229600" y="6387338"/>
                    <a:pt x="6387338" y="8229600"/>
                    <a:pt x="4114800" y="8229600"/>
                  </a:cubicBezTo>
                  <a:cubicBezTo>
                    <a:pt x="1842262" y="8229600"/>
                    <a:pt x="0" y="6387338"/>
                    <a:pt x="0" y="4114800"/>
                  </a:cubicBezTo>
                  <a:close/>
                </a:path>
              </a:pathLst>
            </a:custGeom>
            <a:solidFill>
              <a:srgbClr val="F5A623">
                <a:alpha val="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120" y="617220"/>
            <a:ext cx="16322040" cy="960120"/>
            <a:chOff x="0" y="0"/>
            <a:chExt cx="21762720" cy="1280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627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2176272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5400"/>
                </a:lnSpc>
              </a:pPr>
              <a:r>
                <a:rPr lang="ar-EG" sz="4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الخلاصة والتطوير المستقبلي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50595" y="1979295"/>
            <a:ext cx="5299710" cy="6465570"/>
            <a:chOff x="0" y="0"/>
            <a:chExt cx="7066280" cy="86207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66280" cy="8620761"/>
            </a:xfrm>
            <a:custGeom>
              <a:avLst/>
              <a:gdLst/>
              <a:ahLst/>
              <a:cxnLst/>
              <a:rect r="r" b="b" t="t" l="l"/>
              <a:pathLst>
                <a:path h="8620761" w="706628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882765" y="0"/>
                  </a:lnTo>
                  <a:cubicBezTo>
                    <a:pt x="6984111" y="0"/>
                    <a:pt x="7066280" y="82169"/>
                    <a:pt x="7066280" y="183515"/>
                  </a:cubicBezTo>
                  <a:lnTo>
                    <a:pt x="7066280" y="8437245"/>
                  </a:lnTo>
                  <a:cubicBezTo>
                    <a:pt x="7066280" y="8538591"/>
                    <a:pt x="6984111" y="8620761"/>
                    <a:pt x="6882765" y="8620761"/>
                  </a:cubicBezTo>
                  <a:lnTo>
                    <a:pt x="183515" y="8620761"/>
                  </a:lnTo>
                  <a:cubicBezTo>
                    <a:pt x="82169" y="8620760"/>
                    <a:pt x="0" y="8538591"/>
                    <a:pt x="0" y="8437245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3161538" y="2400300"/>
            <a:ext cx="877824" cy="877824"/>
            <a:chOff x="0" y="0"/>
            <a:chExt cx="1170432" cy="11704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339846" y="2578608"/>
            <a:ext cx="521208" cy="521208"/>
            <a:chOff x="0" y="0"/>
            <a:chExt cx="694944" cy="694944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60120" y="3497580"/>
            <a:ext cx="5280660" cy="685800"/>
            <a:chOff x="0" y="0"/>
            <a:chExt cx="704088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40880" cy="914400"/>
            </a:xfrm>
            <a:custGeom>
              <a:avLst/>
              <a:gdLst/>
              <a:ahLst/>
              <a:cxnLst/>
              <a:rect r="r" b="b" t="t" l="l"/>
              <a:pathLst>
                <a:path h="91440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034" r="0" b="-10003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704088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ar-EG" sz="225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أهم ما تم إنجازه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71600" y="4320540"/>
            <a:ext cx="4457700" cy="3840480"/>
            <a:chOff x="0" y="0"/>
            <a:chExt cx="5943600" cy="5120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9436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5120640"/>
                  </a:lnTo>
                  <a:lnTo>
                    <a:pt x="0" y="5120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0538" t="0" r="-60538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5943600" cy="5215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 marL="312182" indent="-156091" lvl="1">
                <a:lnSpc>
                  <a:spcPts val="2691"/>
                </a:lnSpc>
                <a:buFont typeface="Arial"/>
                <a:buChar char="•"/>
              </a:pPr>
              <a:r>
                <a:rPr lang="ar-EG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نظام دردشة كامل بنموذج </a:t>
              </a: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Client-Server</a:t>
              </a:r>
            </a:p>
            <a:p>
              <a:pPr algn="r" rtl="true" marL="312182" indent="-156091" lvl="1">
                <a:lnSpc>
                  <a:spcPts val="2691"/>
                </a:lnSpc>
                <a:buFont typeface="Arial"/>
                <a:buChar char="•"/>
              </a:pPr>
              <a:r>
                <a:rPr lang="ar-EG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رسائل عامة وخاصة + سجلّ دائم</a:t>
              </a:r>
            </a:p>
            <a:p>
              <a:pPr algn="r" rtl="true" marL="312182" indent="-156091" lvl="1">
                <a:lnSpc>
                  <a:spcPts val="2691"/>
                </a:lnSpc>
                <a:buFont typeface="Arial"/>
                <a:buChar char="•"/>
              </a:pPr>
              <a:r>
                <a:rPr lang="ar-EG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واجهتا استخدام (</a:t>
              </a: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Terminal</a:t>
              </a:r>
              <a:r>
                <a:rPr lang="ar-EG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 و </a:t>
              </a: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GUI</a:t>
              </a:r>
              <a:r>
                <a:rPr lang="ar-EG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)</a:t>
              </a:r>
            </a:p>
            <a:p>
              <a:pPr algn="r" rtl="true" marL="312182" indent="-156091" lvl="1">
                <a:lnSpc>
                  <a:spcPts val="2691"/>
                </a:lnSpc>
                <a:buFont typeface="Arial"/>
                <a:buChar char="•"/>
              </a:pPr>
              <a:r>
                <a:rPr lang="ar-EG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خدمة اسم بدل </a:t>
              </a: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IP/Port</a:t>
              </a:r>
              <a:r>
                <a:rPr lang="ar-EG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 مباشر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642735" y="1979295"/>
            <a:ext cx="5299710" cy="6465570"/>
            <a:chOff x="0" y="0"/>
            <a:chExt cx="7066280" cy="86207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66280" cy="8620761"/>
            </a:xfrm>
            <a:custGeom>
              <a:avLst/>
              <a:gdLst/>
              <a:ahLst/>
              <a:cxnLst/>
              <a:rect r="r" b="b" t="t" l="l"/>
              <a:pathLst>
                <a:path h="8620761" w="706628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882765" y="0"/>
                  </a:lnTo>
                  <a:cubicBezTo>
                    <a:pt x="6984111" y="0"/>
                    <a:pt x="7066280" y="82169"/>
                    <a:pt x="7066280" y="183515"/>
                  </a:cubicBezTo>
                  <a:lnTo>
                    <a:pt x="7066280" y="8437245"/>
                  </a:lnTo>
                  <a:cubicBezTo>
                    <a:pt x="7066280" y="8538591"/>
                    <a:pt x="6984111" y="8620761"/>
                    <a:pt x="6882765" y="8620761"/>
                  </a:cubicBezTo>
                  <a:lnTo>
                    <a:pt x="183515" y="8620761"/>
                  </a:lnTo>
                  <a:cubicBezTo>
                    <a:pt x="82169" y="8620760"/>
                    <a:pt x="0" y="8538591"/>
                    <a:pt x="0" y="8437245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853678" y="2400300"/>
            <a:ext cx="877824" cy="877824"/>
            <a:chOff x="0" y="0"/>
            <a:chExt cx="1170432" cy="11704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031986" y="2578608"/>
            <a:ext cx="521208" cy="521208"/>
            <a:chOff x="0" y="0"/>
            <a:chExt cx="694944" cy="694944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652260" y="3497580"/>
            <a:ext cx="5280660" cy="685800"/>
            <a:chOff x="0" y="0"/>
            <a:chExt cx="704088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40880" cy="914400"/>
            </a:xfrm>
            <a:custGeom>
              <a:avLst/>
              <a:gdLst/>
              <a:ahLst/>
              <a:cxnLst/>
              <a:rect r="r" b="b" t="t" l="l"/>
              <a:pathLst>
                <a:path h="91440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034" r="0" b="-10003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704088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ar-EG" sz="225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أبرز التحديات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063740" y="4320540"/>
            <a:ext cx="4457700" cy="3840480"/>
            <a:chOff x="0" y="0"/>
            <a:chExt cx="5943600" cy="5120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9436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5120640"/>
                  </a:lnTo>
                  <a:lnTo>
                    <a:pt x="0" y="5120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0538" t="0" r="-60538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0"/>
              <a:ext cx="5943600" cy="5215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 marL="312182" indent="-156091" lvl="1">
                <a:lnSpc>
                  <a:spcPts val="2691"/>
                </a:lnSpc>
                <a:buFont typeface="Arial"/>
                <a:buChar char="•"/>
              </a:pPr>
              <a:r>
                <a:rPr lang="ar-EG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تأمين البيانات المشتركة بين </a:t>
              </a: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Threads (Lock)</a:t>
              </a:r>
            </a:p>
            <a:p>
              <a:pPr algn="r" rtl="true" marL="312182" indent="-156091" lvl="1">
                <a:lnSpc>
                  <a:spcPts val="2691"/>
                </a:lnSpc>
                <a:buFont typeface="Arial"/>
                <a:buChar char="•"/>
              </a:pPr>
              <a:r>
                <a:rPr lang="ar-EG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تصميم بروتوكول نصّي واضح وموسّع</a:t>
              </a:r>
            </a:p>
            <a:p>
              <a:pPr algn="r" rtl="true" marL="312182" indent="-156091" lvl="1">
                <a:lnSpc>
                  <a:spcPts val="2691"/>
                </a:lnSpc>
                <a:buFont typeface="Arial"/>
                <a:buChar char="•"/>
              </a:pPr>
              <a:r>
                <a:rPr lang="ar-EG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اختبار التزامن مع عدّة عملاء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334875" y="1979295"/>
            <a:ext cx="5299710" cy="6465570"/>
            <a:chOff x="0" y="0"/>
            <a:chExt cx="7066280" cy="86207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066280" cy="8620761"/>
            </a:xfrm>
            <a:custGeom>
              <a:avLst/>
              <a:gdLst/>
              <a:ahLst/>
              <a:cxnLst/>
              <a:rect r="r" b="b" t="t" l="l"/>
              <a:pathLst>
                <a:path h="8620761" w="706628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882765" y="0"/>
                  </a:lnTo>
                  <a:cubicBezTo>
                    <a:pt x="6984111" y="0"/>
                    <a:pt x="7066280" y="82169"/>
                    <a:pt x="7066280" y="183515"/>
                  </a:cubicBezTo>
                  <a:lnTo>
                    <a:pt x="7066280" y="8437245"/>
                  </a:lnTo>
                  <a:cubicBezTo>
                    <a:pt x="7066280" y="8538591"/>
                    <a:pt x="6984111" y="8620761"/>
                    <a:pt x="6882765" y="8620761"/>
                  </a:cubicBezTo>
                  <a:lnTo>
                    <a:pt x="183515" y="8620761"/>
                  </a:lnTo>
                  <a:cubicBezTo>
                    <a:pt x="82169" y="8620760"/>
                    <a:pt x="0" y="8538591"/>
                    <a:pt x="0" y="8437245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4545818" y="2400300"/>
            <a:ext cx="877824" cy="877824"/>
            <a:chOff x="0" y="0"/>
            <a:chExt cx="1170432" cy="117043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4724126" y="2578608"/>
            <a:ext cx="521208" cy="521208"/>
            <a:chOff x="0" y="0"/>
            <a:chExt cx="694944" cy="694944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344400" y="3497580"/>
            <a:ext cx="5280660" cy="685800"/>
            <a:chOff x="0" y="0"/>
            <a:chExt cx="7040880" cy="914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040880" cy="914400"/>
            </a:xfrm>
            <a:custGeom>
              <a:avLst/>
              <a:gdLst/>
              <a:ahLst/>
              <a:cxnLst/>
              <a:rect r="r" b="b" t="t" l="l"/>
              <a:pathLst>
                <a:path h="91440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034" r="0" b="-10003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704088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ar-EG" sz="225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تطوير مستقبلي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755880" y="4320540"/>
            <a:ext cx="4457700" cy="3840480"/>
            <a:chOff x="0" y="0"/>
            <a:chExt cx="5943600" cy="5120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9436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5120640"/>
                  </a:lnTo>
                  <a:lnTo>
                    <a:pt x="0" y="5120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0538" t="0" r="-60538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0"/>
              <a:ext cx="5943600" cy="5215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 marL="312182" indent="-156091" lvl="1">
                <a:lnSpc>
                  <a:spcPts val="2691"/>
                </a:lnSpc>
                <a:buFont typeface="Arial"/>
                <a:buChar char="•"/>
              </a:pPr>
              <a:r>
                <a:rPr lang="ar-EG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تشفير الرسائل (</a:t>
              </a: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TLS</a:t>
              </a:r>
              <a:r>
                <a:rPr lang="ar-EG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)</a:t>
              </a:r>
            </a:p>
            <a:p>
              <a:pPr algn="r" rtl="true" marL="312182" indent="-156091" lvl="1">
                <a:lnSpc>
                  <a:spcPts val="2691"/>
                </a:lnSpc>
                <a:buFont typeface="Arial"/>
                <a:buChar char="•"/>
              </a:pPr>
              <a:r>
                <a:rPr lang="ar-EG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مصادقة بكلمة مرور</a:t>
              </a:r>
            </a:p>
            <a:p>
              <a:pPr algn="r" rtl="true" marL="312182" indent="-156091" lvl="1">
                <a:lnSpc>
                  <a:spcPts val="2691"/>
                </a:lnSpc>
                <a:buFont typeface="Arial"/>
                <a:buChar char="•"/>
              </a:pPr>
              <a:r>
                <a:rPr lang="ar-EG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قاعدة بيانات لتخزين السجل</a:t>
              </a:r>
            </a:p>
            <a:p>
              <a:pPr algn="r" rtl="true" marL="312182" indent="-156091" lvl="1">
                <a:lnSpc>
                  <a:spcPts val="2691"/>
                </a:lnSpc>
                <a:buFont typeface="Arial"/>
                <a:buChar char="•"/>
              </a:pPr>
              <a:r>
                <a:rPr lang="ar-EG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غرف دردشة متعددة (</a:t>
              </a: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Rooms</a:t>
              </a:r>
              <a:r>
                <a:rPr lang="ar-EG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DAHNzUBUjAs</dc:identifier>
  <dcterms:modified xsi:type="dcterms:W3CDTF">2011-08-01T06:04:30Z</dcterms:modified>
  <cp:revision>1</cp:revision>
  <dc:title>chat_project_presentation.pptx</dc:title>
</cp:coreProperties>
</file>